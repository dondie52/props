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1695" cy="6858000"/>
  <p:notesSz cx="6858000" cy="12191695"/>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Good morning. I'm Georgy Moni. This is the Software Requirements Specification for PropManage BW, a property management system for landlords in Botswana. In the next four minutes: what the system is for, the requirements that matter most, and how I kept them verifiable. [~20s]</a:t>
            </a:r>
          </a:p>
        </p:txBody>
      </p:sp>
    </p:spTree>
  </p:cSld>
  <p:clrMapOvr>
    <a:masterClrMapping/>
  </p:clrMapOvr>
</p:notesSlide>
</file>

<file path=ppt/notesSlides/notesSlide2.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The system replaces manual practice, not another product. Landlords track rent in spreadsheets, find arrears at month end, and take repair reports by phone with no record. The SRS sets three objectives against that: one accurate record, rent raised automatically, arrears visible the day they arise. [~30s]</a:t>
            </a:r>
          </a:p>
        </p:txBody>
      </p:sp>
    </p:spTree>
  </p:cSld>
  <p:clrMapOvr>
    <a:masterClrMapping/>
  </p:clrMapOvr>
</p:notesSlide>
</file>

<file path=ppt/notesSlides/notesSlide3.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Scope is stated in both directions. Seven capability groups in, six explicitly out, each with a reason. Anything excluded but intended appears as future scope with its own identifier, so the boundary is never ambiguous. [~25s]</a:t>
            </a:r>
          </a:p>
        </p:txBody>
      </p:sp>
    </p:spTree>
  </p:cSld>
  <p:clrMapOvr>
    <a:masterClrMapping/>
  </p:clrMapOvr>
</p:notesSlide>
</file>

<file path=ppt/notesSlides/notesSlide4.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Four user classes. The landlord is the paying customer and gets the richest interface. The tenant class is the largest by population and predominantly on a phone, which is why the mobile layout requirements are the strictest in the document. [~25s]</a:t>
            </a:r>
          </a:p>
        </p:txBody>
      </p:sp>
    </p:spTree>
  </p:cSld>
  <p:clrMapOvr>
    <a:masterClrMapping/>
  </p:clrMapOvr>
</p:notesSlide>
</file>

<file path=ppt/notesSlides/notesSlide5.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The specification carries 67 functional requirements, 46 non-functional across seven quality attributes, 24 interface requirements and 18 use cases, 12 written out in full. Every limit and enumerated value was checked against the implemented system rather than invented. [~25s]</a:t>
            </a:r>
          </a:p>
        </p:txBody>
      </p:sp>
    </p:spTree>
  </p:cSld>
  <p:clrMapOvr>
    <a:masterClrMapping/>
  </p:clrMapOvr>
</p:notesSlide>
</file>

<file path=ppt/notesSlides/notesSlide6.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This is the requirement the whole product rests on. A scheduled job runs daily at 02:15 UTC, raises one charge per active lease, refuses duplicates, and marks unpaid charges overdue. The important property is idempotence — running it repeatedly still produces exactly one charge, so a retry can never double-charge a tenant. [~35s]</a:t>
            </a:r>
          </a:p>
        </p:txBody>
      </p:sp>
    </p:spTree>
  </p:cSld>
  <p:clrMapOvr>
    <a:masterClrMapping/>
  </p:clrMapOvr>
</p:notesSlide>
</file>

<file path=ppt/notesSlides/notesSlide7.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Payments move through three states. Rent is received outside the system and recorded afterwards — the system is a record of payment, not a means of payment, and that assumption is stated explicitly. Four rules protect the money: no double recording, receipts only for settled payments, and only the landlord or the named tenant can obtain one. [~35s]</a:t>
            </a:r>
          </a:p>
        </p:txBody>
      </p:sp>
    </p:spTree>
  </p:cSld>
  <p:clrMapOvr>
    <a:masterClrMapping/>
  </p:clrMapOvr>
</p:notesSlide>
</file>

<file path=ppt/notesSlides/notesSlide8.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The security requirements are the ones I'd defend hardest. Authorisation is enforced in the database, not just the interface — every table denies by default, a landlord can only ever reach their own portfolio, and no decision depends on anything the browser sends. Tenant data is personal data, so the Data Protection Act is a stated constraint. [~30s]</a:t>
            </a:r>
          </a:p>
        </p:txBody>
      </p:sp>
    </p:spTree>
  </p:cSld>
  <p:clrMapOvr>
    <a:masterClrMapping/>
  </p:clrMapOvr>
</p:notesSlide>
</file>

<file path=ppt/notesSlides/notesSlide9.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This is where I put most of the effort. Nothing in the document says fast, or user-friendly, or reliable. Each becomes a number with a method attached — 2.5 seconds at the 95th percentile, ten minutes with four of five participants, 99.5 percent a month, 4.5 to 1 contrast. If it can't be measured, it isn't a requirement. [~30s]</a:t>
            </a:r>
          </a:p>
        </p:txBody>
      </p:sp>
    </p:spTree>
  </p:cSld>
  <p:clrMapOvr>
    <a:masterClrMapping/>
  </p:clrMapOvr>
</p:notesSlide>
</file>

<file path=ppt/notesSlides/notesSlide10.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Nine capabilities are intended but deliberately outside the baseline, each with its own identifier. One point I want to make: three screens already show controls that aren't wired up yet. Rather than specify them as delivered, I recorded them as future scope — the document doesn't overstate what the system does. [~30s]</a:t>
            </a:r>
          </a:p>
        </p:txBody>
      </p:sp>
    </p:spTree>
  </p:cSld>
  <p:clrMapOvr>
    <a:masterClrMapping/>
  </p:clrMapOvr>
</p:notesSlide>
</file>

<file path=ppt/notesSlides/notesSlide11.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2971800"/>
            <a:ext cx="5486400" cy="4114800"/>
          </a:xfrm>
          <a:prstGeom prst="rect">
            <a:avLst/>
          </a:prstGeom>
        </p:spPr>
        <p:txBody>
          <a:bodyPr/>
          <a:lstStyle/>
          <a:p>
            <a:r>
              <a:rPr lang="en-GB" dirty="0"/>
              <a:t>To close: every one of the 137 numbered requirements traces to a feature, a use case, and a method that will confirm it — test, demonstration, inspection or analysis. That's what makes this a foundation for the design phase rather than a wish list. Thank you — happy to take questions. [~25s]</a:t>
            </a:r>
          </a:p>
        </p:txBody>
      </p:sp>
    </p:spTree>
  </p:cSld>
  <p:clrMapOvr>
    <a:masterClrMapping/>
  </p:clrMapOvr>
</p:notesSlid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857"/>
        </a:solidFill>
        <a:effectLst/>
      </p:bgPr>
    </p:bg>
    <p:spTree>
      <p:nvGrpSpPr>
        <p:cNvPr id="1" name=""/>
        <p:cNvGrpSpPr/>
        <p:nvPr/>
      </p:nvGrpSpPr>
      <p:grpSpPr>
        <a:xfrm>
          <a:off x="0" y="0"/>
          <a:ext cx="0" cy="0"/>
          <a:chOff x="0" y="0"/>
          <a:chExt cx="0" cy="0"/>
        </a:xfrm>
      </p:grpSpPr>
      <p:sp>
        <p:nvSpPr>
          <p:cNvPr id="2" name="s2"/>
          <p:cNvSpPr/>
          <p:nvPr/>
        </p:nvSpPr>
        <p:spPr>
          <a:xfrm>
            <a:off x="0" y="0"/>
            <a:ext cx="12191695" cy="82296"/>
          </a:xfrm>
          <a:prstGeom prst="rect">
            <a:avLst/>
          </a:prstGeom>
          <a:solidFill>
            <a:srgbClr val="FEA520"/>
          </a:solidFill>
          <a:ln>
            <a:noFill/>
          </a:ln>
        </p:spPr>
        <p:txBody>
          <a:bodyPr lIns="0" tIns="0" rIns="0" bIns="0" anchor="ctr"/>
          <a:lstStyle/>
          <a:p/>
        </p:txBody>
      </p:sp>
      <p:sp>
        <p:nvSpPr>
          <p:cNvPr id="3" name="t3"/>
          <p:cNvSpPr txBox="1"/>
          <p:nvPr/>
        </p:nvSpPr>
        <p:spPr>
          <a:xfrm>
            <a:off x="566928" y="1051560"/>
            <a:ext cx="11057839" cy="310896"/>
          </a:xfrm>
          <a:prstGeom prst="rect">
            <a:avLst/>
          </a:prstGeom>
          <a:noFill/>
        </p:spPr>
        <p:txBody>
          <a:bodyPr wrap="square" lIns="0" tIns="0" rIns="0" bIns="0" anchor="t">
            <a:normAutofit/>
          </a:bodyPr>
          <a:lstStyle/>
          <a:p>
            <a:pPr algn="l" marL="0" indent="0">
              <a:buNone/>
            </a:pPr>
            <a:r>
              <a:rPr lang="en-GB" sz="1250" b="1" i="0" spc="240" dirty="0">
                <a:solidFill>
                  <a:srgbClr val="FEA520"/>
                </a:solidFill>
                <a:latin typeface="Calibri"/>
                <a:cs typeface="Calibri"/>
              </a:rPr>
              <a:t>CSI 603  ·  INFORMATION SYSTEMS ENGINEERING</a:t>
            </a:r>
          </a:p>
        </p:txBody>
      </p:sp>
      <p:sp>
        <p:nvSpPr>
          <p:cNvPr id="4" name="t4"/>
          <p:cNvSpPr txBox="1"/>
          <p:nvPr/>
        </p:nvSpPr>
        <p:spPr>
          <a:xfrm>
            <a:off x="566928" y="1463040"/>
            <a:ext cx="11057839" cy="1783080"/>
          </a:xfrm>
          <a:prstGeom prst="rect">
            <a:avLst/>
          </a:prstGeom>
          <a:noFill/>
        </p:spPr>
        <p:txBody>
          <a:bodyPr wrap="square" lIns="0" tIns="0" rIns="0" bIns="0" anchor="t">
            <a:normAutofit/>
          </a:bodyPr>
          <a:lstStyle/>
          <a:p>
            <a:pPr algn="l" marL="0" indent="0">
              <a:lnSpc>
                <a:spcPct val="105000"/>
              </a:lnSpc>
              <a:buNone/>
            </a:pPr>
            <a:r>
              <a:rPr lang="en-GB" sz="4600" b="1" i="0" dirty="0">
                <a:solidFill>
                  <a:srgbClr val="FFFFFF"/>
                </a:solidFill>
                <a:latin typeface="Calibri"/>
                <a:cs typeface="Calibri"/>
              </a:rPr>
              <a:t>Software Requirements</a:t>
            </a:r>
            <a:br>
              <a:rPr lang="en-GB" sz="4600" b="1" i="0" dirty="0">
                <a:solidFill>
                  <a:srgbClr val="FFFFFF"/>
                </a:solidFill>
                <a:latin typeface="Calibri"/>
                <a:cs typeface="Calibri"/>
              </a:rPr>
            </a:br>
            <a:r>
              <a:rPr lang="en-GB" sz="4600" b="1" i="0" dirty="0">
                <a:solidFill>
                  <a:srgbClr val="FFFFFF"/>
                </a:solidFill>
                <a:latin typeface="Calibri"/>
                <a:cs typeface="Calibri"/>
              </a:rPr>
              <a:t>Specification</a:t>
            </a:r>
          </a:p>
        </p:txBody>
      </p:sp>
      <p:sp>
        <p:nvSpPr>
          <p:cNvPr id="5" name="t5"/>
          <p:cNvSpPr txBox="1"/>
          <p:nvPr/>
        </p:nvSpPr>
        <p:spPr>
          <a:xfrm>
            <a:off x="566928" y="3346704"/>
            <a:ext cx="11057839" cy="457200"/>
          </a:xfrm>
          <a:prstGeom prst="rect">
            <a:avLst/>
          </a:prstGeom>
          <a:noFill/>
        </p:spPr>
        <p:txBody>
          <a:bodyPr wrap="square" lIns="0" tIns="0" rIns="0" bIns="0" anchor="t">
            <a:normAutofit/>
          </a:bodyPr>
          <a:lstStyle/>
          <a:p>
            <a:pPr algn="l" marL="0" indent="0">
              <a:buNone/>
            </a:pPr>
            <a:r>
              <a:rPr lang="en-GB" sz="2100" b="0" i="0" dirty="0">
                <a:solidFill>
                  <a:srgbClr val="C8D8E4"/>
                </a:solidFill>
                <a:latin typeface="Calibri"/>
                <a:cs typeface="Calibri"/>
              </a:rPr>
              <a:t>PropManage BW — Property Management System</a:t>
            </a:r>
          </a:p>
        </p:txBody>
      </p:sp>
      <p:sp>
        <p:nvSpPr>
          <p:cNvPr id="6" name="s6"/>
          <p:cNvSpPr/>
          <p:nvPr/>
        </p:nvSpPr>
        <p:spPr>
          <a:xfrm>
            <a:off x="566928" y="4206240"/>
            <a:ext cx="1993392" cy="1024128"/>
          </a:xfrm>
          <a:prstGeom prst="roundRect">
            <a:avLst>
              <a:gd name="adj" fmla="val 8928"/>
            </a:avLst>
          </a:prstGeom>
          <a:solidFill>
            <a:srgbClr val="1B4F72"/>
          </a:solidFill>
          <a:ln>
            <a:noFill/>
          </a:ln>
        </p:spPr>
        <p:txBody>
          <a:bodyPr lIns="0" tIns="0" rIns="0" bIns="0" anchor="ctr"/>
          <a:lstStyle/>
          <a:p/>
        </p:txBody>
      </p:sp>
      <p:sp>
        <p:nvSpPr>
          <p:cNvPr id="7" name="t7"/>
          <p:cNvSpPr txBox="1"/>
          <p:nvPr/>
        </p:nvSpPr>
        <p:spPr>
          <a:xfrm>
            <a:off x="566928" y="4297680"/>
            <a:ext cx="1993392" cy="475488"/>
          </a:xfrm>
          <a:prstGeom prst="rect">
            <a:avLst/>
          </a:prstGeom>
          <a:noFill/>
        </p:spPr>
        <p:txBody>
          <a:bodyPr wrap="square" lIns="0" tIns="0" rIns="0" bIns="0" anchor="t">
            <a:normAutofit/>
          </a:bodyPr>
          <a:lstStyle/>
          <a:p>
            <a:pPr algn="ctr" marL="0" indent="0">
              <a:buNone/>
            </a:pPr>
            <a:r>
              <a:rPr lang="en-GB" sz="2700" b="1" i="0" dirty="0">
                <a:solidFill>
                  <a:srgbClr val="FEA520"/>
                </a:solidFill>
                <a:latin typeface="Calibri"/>
                <a:cs typeface="Calibri"/>
              </a:rPr>
              <a:t>67</a:t>
            </a:r>
          </a:p>
        </p:txBody>
      </p:sp>
      <p:sp>
        <p:nvSpPr>
          <p:cNvPr id="8" name="t8"/>
          <p:cNvSpPr txBox="1"/>
          <p:nvPr/>
        </p:nvSpPr>
        <p:spPr>
          <a:xfrm>
            <a:off x="566928" y="4773168"/>
            <a:ext cx="1993392" cy="347472"/>
          </a:xfrm>
          <a:prstGeom prst="rect">
            <a:avLst/>
          </a:prstGeom>
          <a:noFill/>
        </p:spPr>
        <p:txBody>
          <a:bodyPr wrap="square" lIns="0" tIns="0" rIns="0" bIns="0" anchor="t">
            <a:normAutofit/>
          </a:bodyPr>
          <a:lstStyle/>
          <a:p>
            <a:pPr algn="ctr" marL="0" indent="0">
              <a:buNone/>
            </a:pPr>
            <a:r>
              <a:rPr lang="en-GB" sz="1050" b="0" i="0" dirty="0">
                <a:solidFill>
                  <a:srgbClr val="C8D8E4"/>
                </a:solidFill>
                <a:latin typeface="Calibri"/>
                <a:cs typeface="Calibri"/>
              </a:rPr>
              <a:t>Functional requirements</a:t>
            </a:r>
          </a:p>
        </p:txBody>
      </p:sp>
      <p:sp>
        <p:nvSpPr>
          <p:cNvPr id="9" name="s9"/>
          <p:cNvSpPr/>
          <p:nvPr/>
        </p:nvSpPr>
        <p:spPr>
          <a:xfrm>
            <a:off x="2779776" y="4206240"/>
            <a:ext cx="1993392" cy="1024128"/>
          </a:xfrm>
          <a:prstGeom prst="roundRect">
            <a:avLst>
              <a:gd name="adj" fmla="val 8928"/>
            </a:avLst>
          </a:prstGeom>
          <a:solidFill>
            <a:srgbClr val="1B4F72"/>
          </a:solidFill>
          <a:ln>
            <a:noFill/>
          </a:ln>
        </p:spPr>
        <p:txBody>
          <a:bodyPr lIns="0" tIns="0" rIns="0" bIns="0" anchor="ctr"/>
          <a:lstStyle/>
          <a:p/>
        </p:txBody>
      </p:sp>
      <p:sp>
        <p:nvSpPr>
          <p:cNvPr id="10" name="t10"/>
          <p:cNvSpPr txBox="1"/>
          <p:nvPr/>
        </p:nvSpPr>
        <p:spPr>
          <a:xfrm>
            <a:off x="2779776" y="4297680"/>
            <a:ext cx="1993392" cy="475488"/>
          </a:xfrm>
          <a:prstGeom prst="rect">
            <a:avLst/>
          </a:prstGeom>
          <a:noFill/>
        </p:spPr>
        <p:txBody>
          <a:bodyPr wrap="square" lIns="0" tIns="0" rIns="0" bIns="0" anchor="t">
            <a:normAutofit/>
          </a:bodyPr>
          <a:lstStyle/>
          <a:p>
            <a:pPr algn="ctr" marL="0" indent="0">
              <a:buNone/>
            </a:pPr>
            <a:r>
              <a:rPr lang="en-GB" sz="2700" b="1" i="0" dirty="0">
                <a:solidFill>
                  <a:srgbClr val="FEA520"/>
                </a:solidFill>
                <a:latin typeface="Calibri"/>
                <a:cs typeface="Calibri"/>
              </a:rPr>
              <a:t>46</a:t>
            </a:r>
          </a:p>
        </p:txBody>
      </p:sp>
      <p:sp>
        <p:nvSpPr>
          <p:cNvPr id="11" name="t11"/>
          <p:cNvSpPr txBox="1"/>
          <p:nvPr/>
        </p:nvSpPr>
        <p:spPr>
          <a:xfrm>
            <a:off x="2779776" y="4773168"/>
            <a:ext cx="1993392" cy="347472"/>
          </a:xfrm>
          <a:prstGeom prst="rect">
            <a:avLst/>
          </a:prstGeom>
          <a:noFill/>
        </p:spPr>
        <p:txBody>
          <a:bodyPr wrap="square" lIns="0" tIns="0" rIns="0" bIns="0" anchor="t">
            <a:normAutofit/>
          </a:bodyPr>
          <a:lstStyle/>
          <a:p>
            <a:pPr algn="ctr" marL="0" indent="0">
              <a:buNone/>
            </a:pPr>
            <a:r>
              <a:rPr lang="en-GB" sz="1050" b="0" i="0" dirty="0">
                <a:solidFill>
                  <a:srgbClr val="C8D8E4"/>
                </a:solidFill>
                <a:latin typeface="Calibri"/>
                <a:cs typeface="Calibri"/>
              </a:rPr>
              <a:t>Non-functional</a:t>
            </a:r>
          </a:p>
        </p:txBody>
      </p:sp>
      <p:sp>
        <p:nvSpPr>
          <p:cNvPr id="12" name="s12"/>
          <p:cNvSpPr/>
          <p:nvPr/>
        </p:nvSpPr>
        <p:spPr>
          <a:xfrm>
            <a:off x="4992624" y="4206240"/>
            <a:ext cx="1993392" cy="1024128"/>
          </a:xfrm>
          <a:prstGeom prst="roundRect">
            <a:avLst>
              <a:gd name="adj" fmla="val 8928"/>
            </a:avLst>
          </a:prstGeom>
          <a:solidFill>
            <a:srgbClr val="1B4F72"/>
          </a:solidFill>
          <a:ln>
            <a:noFill/>
          </a:ln>
        </p:spPr>
        <p:txBody>
          <a:bodyPr lIns="0" tIns="0" rIns="0" bIns="0" anchor="ctr"/>
          <a:lstStyle/>
          <a:p/>
        </p:txBody>
      </p:sp>
      <p:sp>
        <p:nvSpPr>
          <p:cNvPr id="13" name="t13"/>
          <p:cNvSpPr txBox="1"/>
          <p:nvPr/>
        </p:nvSpPr>
        <p:spPr>
          <a:xfrm>
            <a:off x="4992624" y="4297680"/>
            <a:ext cx="1993392" cy="475488"/>
          </a:xfrm>
          <a:prstGeom prst="rect">
            <a:avLst/>
          </a:prstGeom>
          <a:noFill/>
        </p:spPr>
        <p:txBody>
          <a:bodyPr wrap="square" lIns="0" tIns="0" rIns="0" bIns="0" anchor="t">
            <a:normAutofit/>
          </a:bodyPr>
          <a:lstStyle/>
          <a:p>
            <a:pPr algn="ctr" marL="0" indent="0">
              <a:buNone/>
            </a:pPr>
            <a:r>
              <a:rPr lang="en-GB" sz="2700" b="1" i="0" dirty="0">
                <a:solidFill>
                  <a:srgbClr val="FEA520"/>
                </a:solidFill>
                <a:latin typeface="Calibri"/>
                <a:cs typeface="Calibri"/>
              </a:rPr>
              <a:t>18</a:t>
            </a:r>
          </a:p>
        </p:txBody>
      </p:sp>
      <p:sp>
        <p:nvSpPr>
          <p:cNvPr id="14" name="t14"/>
          <p:cNvSpPr txBox="1"/>
          <p:nvPr/>
        </p:nvSpPr>
        <p:spPr>
          <a:xfrm>
            <a:off x="4992624" y="4773168"/>
            <a:ext cx="1993392" cy="347472"/>
          </a:xfrm>
          <a:prstGeom prst="rect">
            <a:avLst/>
          </a:prstGeom>
          <a:noFill/>
        </p:spPr>
        <p:txBody>
          <a:bodyPr wrap="square" lIns="0" tIns="0" rIns="0" bIns="0" anchor="t">
            <a:normAutofit/>
          </a:bodyPr>
          <a:lstStyle/>
          <a:p>
            <a:pPr algn="ctr" marL="0" indent="0">
              <a:buNone/>
            </a:pPr>
            <a:r>
              <a:rPr lang="en-GB" sz="1050" b="0" i="0" dirty="0">
                <a:solidFill>
                  <a:srgbClr val="C8D8E4"/>
                </a:solidFill>
                <a:latin typeface="Calibri"/>
                <a:cs typeface="Calibri"/>
              </a:rPr>
              <a:t>Use cases</a:t>
            </a:r>
          </a:p>
        </p:txBody>
      </p:sp>
      <p:sp>
        <p:nvSpPr>
          <p:cNvPr id="15" name="s15"/>
          <p:cNvSpPr/>
          <p:nvPr/>
        </p:nvSpPr>
        <p:spPr>
          <a:xfrm>
            <a:off x="7205472" y="4206240"/>
            <a:ext cx="1993392" cy="1024128"/>
          </a:xfrm>
          <a:prstGeom prst="roundRect">
            <a:avLst>
              <a:gd name="adj" fmla="val 8928"/>
            </a:avLst>
          </a:prstGeom>
          <a:solidFill>
            <a:srgbClr val="1B4F72"/>
          </a:solidFill>
          <a:ln>
            <a:noFill/>
          </a:ln>
        </p:spPr>
        <p:txBody>
          <a:bodyPr lIns="0" tIns="0" rIns="0" bIns="0" anchor="ctr"/>
          <a:lstStyle/>
          <a:p/>
        </p:txBody>
      </p:sp>
      <p:sp>
        <p:nvSpPr>
          <p:cNvPr id="16" name="t16"/>
          <p:cNvSpPr txBox="1"/>
          <p:nvPr/>
        </p:nvSpPr>
        <p:spPr>
          <a:xfrm>
            <a:off x="7205472" y="4297680"/>
            <a:ext cx="1993392" cy="475488"/>
          </a:xfrm>
          <a:prstGeom prst="rect">
            <a:avLst/>
          </a:prstGeom>
          <a:noFill/>
        </p:spPr>
        <p:txBody>
          <a:bodyPr wrap="square" lIns="0" tIns="0" rIns="0" bIns="0" anchor="t">
            <a:normAutofit/>
          </a:bodyPr>
          <a:lstStyle/>
          <a:p>
            <a:pPr algn="ctr" marL="0" indent="0">
              <a:buNone/>
            </a:pPr>
            <a:r>
              <a:rPr lang="en-GB" sz="2700" b="1" i="0" dirty="0">
                <a:solidFill>
                  <a:srgbClr val="FEA520"/>
                </a:solidFill>
                <a:latin typeface="Calibri"/>
                <a:cs typeface="Calibri"/>
              </a:rPr>
              <a:t>45</a:t>
            </a:r>
          </a:p>
        </p:txBody>
      </p:sp>
      <p:sp>
        <p:nvSpPr>
          <p:cNvPr id="17" name="t17"/>
          <p:cNvSpPr txBox="1"/>
          <p:nvPr/>
        </p:nvSpPr>
        <p:spPr>
          <a:xfrm>
            <a:off x="7205472" y="4773168"/>
            <a:ext cx="1993392" cy="347472"/>
          </a:xfrm>
          <a:prstGeom prst="rect">
            <a:avLst/>
          </a:prstGeom>
          <a:noFill/>
        </p:spPr>
        <p:txBody>
          <a:bodyPr wrap="square" lIns="0" tIns="0" rIns="0" bIns="0" anchor="t">
            <a:normAutofit/>
          </a:bodyPr>
          <a:lstStyle/>
          <a:p>
            <a:pPr algn="ctr" marL="0" indent="0">
              <a:buNone/>
            </a:pPr>
            <a:r>
              <a:rPr lang="en-GB" sz="1050" b="0" i="0" dirty="0">
                <a:solidFill>
                  <a:srgbClr val="C8D8E4"/>
                </a:solidFill>
                <a:latin typeface="Calibri"/>
                <a:cs typeface="Calibri"/>
              </a:rPr>
              <a:t>Pages</a:t>
            </a:r>
          </a:p>
        </p:txBody>
      </p:sp>
      <p:sp>
        <p:nvSpPr>
          <p:cNvPr id="18" name="t18"/>
          <p:cNvSpPr txBox="1"/>
          <p:nvPr/>
        </p:nvSpPr>
        <p:spPr>
          <a:xfrm>
            <a:off x="566928" y="5897880"/>
            <a:ext cx="11057839" cy="365760"/>
          </a:xfrm>
          <a:prstGeom prst="rect">
            <a:avLst/>
          </a:prstGeom>
          <a:noFill/>
        </p:spPr>
        <p:txBody>
          <a:bodyPr wrap="square" lIns="0" tIns="0" rIns="0" bIns="0" anchor="t">
            <a:normAutofit/>
          </a:bodyPr>
          <a:lstStyle/>
          <a:p>
            <a:pPr algn="l" marL="0" indent="0">
              <a:buNone/>
            </a:pPr>
            <a:r>
              <a:rPr lang="en-GB" sz="1300" b="0" i="0" dirty="0">
                <a:solidFill>
                  <a:srgbClr val="C8D8E4"/>
                </a:solidFill>
                <a:latin typeface="Calibri"/>
                <a:cs typeface="Calibri"/>
              </a:rPr>
              <a:t>Georgy Moni   ·   202100062   ·   Assignment 1   ·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2"/>
          <p:cNvSpPr txBox="1"/>
          <p:nvPr/>
        </p:nvSpPr>
        <p:spPr>
          <a:xfrm>
            <a:off x="566928" y="365760"/>
            <a:ext cx="11057839" cy="292608"/>
          </a:xfrm>
          <a:prstGeom prst="rect">
            <a:avLst/>
          </a:prstGeom>
          <a:noFill/>
        </p:spPr>
        <p:txBody>
          <a:bodyPr wrap="square" lIns="0" tIns="0" rIns="0" bIns="0" anchor="t">
            <a:normAutofit/>
          </a:bodyPr>
          <a:lstStyle/>
          <a:p>
            <a:pPr algn="l" marL="0" indent="0">
              <a:buNone/>
            </a:pPr>
            <a:r>
              <a:rPr lang="en-GB" sz="1200" b="1" i="0" spc="200" dirty="0">
                <a:solidFill>
                  <a:srgbClr val="FEA520"/>
                </a:solidFill>
                <a:latin typeface="Calibri"/>
                <a:cs typeface="Calibri"/>
              </a:rPr>
              <a:t>THE PROBLEM</a:t>
            </a:r>
          </a:p>
        </p:txBody>
      </p:sp>
      <p:sp>
        <p:nvSpPr>
          <p:cNvPr id="3" name="t3"/>
          <p:cNvSpPr txBox="1"/>
          <p:nvPr/>
        </p:nvSpPr>
        <p:spPr>
          <a:xfrm>
            <a:off x="566928" y="658368"/>
            <a:ext cx="11057839" cy="694944"/>
          </a:xfrm>
          <a:prstGeom prst="rect">
            <a:avLst/>
          </a:prstGeom>
          <a:noFill/>
        </p:spPr>
        <p:txBody>
          <a:bodyPr wrap="square" lIns="0" tIns="0" rIns="0" bIns="0" anchor="t">
            <a:normAutofit/>
          </a:bodyPr>
          <a:lstStyle/>
          <a:p>
            <a:pPr algn="l" marL="0" indent="0">
              <a:buNone/>
            </a:pPr>
            <a:r>
              <a:rPr lang="en-GB" sz="3200" b="1" i="0" dirty="0">
                <a:solidFill>
                  <a:srgbClr val="003857"/>
                </a:solidFill>
                <a:latin typeface="Calibri"/>
                <a:cs typeface="Calibri"/>
              </a:rPr>
              <a:t>Why PropManage BW exists</a:t>
            </a:r>
          </a:p>
        </p:txBody>
      </p:sp>
      <p:sp>
        <p:nvSpPr>
          <p:cNvPr id="4" name="s4"/>
          <p:cNvSpPr/>
          <p:nvPr/>
        </p:nvSpPr>
        <p:spPr>
          <a:xfrm>
            <a:off x="566928" y="1554480"/>
            <a:ext cx="5029200" cy="3977640"/>
          </a:xfrm>
          <a:prstGeom prst="roundRect">
            <a:avLst>
              <a:gd name="adj" fmla="val 2758"/>
            </a:avLst>
          </a:prstGeom>
          <a:solidFill>
            <a:srgbClr val="F1F4F7"/>
          </a:solidFill>
          <a:ln w="12700">
            <a:solidFill>
              <a:srgbClr val="DCE3E9"/>
            </a:solidFill>
          </a:ln>
        </p:spPr>
        <p:txBody>
          <a:bodyPr lIns="0" tIns="0" rIns="0" bIns="0" anchor="ctr"/>
          <a:lstStyle/>
          <a:p/>
        </p:txBody>
      </p:sp>
      <p:sp>
        <p:nvSpPr>
          <p:cNvPr id="5" name="t5"/>
          <p:cNvSpPr txBox="1"/>
          <p:nvPr/>
        </p:nvSpPr>
        <p:spPr>
          <a:xfrm>
            <a:off x="877824" y="1810512"/>
            <a:ext cx="4389120" cy="365760"/>
          </a:xfrm>
          <a:prstGeom prst="rect">
            <a:avLst/>
          </a:prstGeom>
          <a:noFill/>
        </p:spPr>
        <p:txBody>
          <a:bodyPr wrap="square" lIns="0" tIns="0" rIns="0" bIns="0" anchor="t">
            <a:normAutofit/>
          </a:bodyPr>
          <a:lstStyle/>
          <a:p>
            <a:pPr algn="l" marL="0" indent="0">
              <a:buNone/>
            </a:pPr>
            <a:r>
              <a:rPr lang="en-GB" sz="1700" b="1" i="0" dirty="0">
                <a:solidFill>
                  <a:srgbClr val="003857"/>
                </a:solidFill>
                <a:latin typeface="Calibri"/>
                <a:cs typeface="Calibri"/>
              </a:rPr>
              <a:t>How landlords work today</a:t>
            </a:r>
          </a:p>
        </p:txBody>
      </p:sp>
      <p:sp>
        <p:nvSpPr>
          <p:cNvPr id="6" name="t6"/>
          <p:cNvSpPr txBox="1"/>
          <p:nvPr/>
        </p:nvSpPr>
        <p:spPr>
          <a:xfrm>
            <a:off x="877824" y="2267712"/>
            <a:ext cx="4407408" cy="2103120"/>
          </a:xfrm>
          <a:prstGeom prst="rect">
            <a:avLst/>
          </a:prstGeom>
          <a:noFill/>
        </p:spPr>
        <p:txBody>
          <a:bodyPr wrap="square" lIns="0" tIns="0" rIns="0" bIns="0" anchor="t">
            <a:normAutofit/>
          </a:bodyPr>
          <a:lstStyle/>
          <a:p>
            <a:pPr algn="l" marL="185420" indent="-185420">
              <a:spcAft>
                <a:spcPts val="1000"/>
              </a:spcAft>
              <a:buFont typeface="Arial"/>
              <a:buChar char="•"/>
            </a:pPr>
            <a:r>
              <a:rPr lang="en-GB" sz="1450" b="0" i="0" dirty="0">
                <a:solidFill>
                  <a:srgbClr val="1A1C1E"/>
                </a:solidFill>
                <a:latin typeface="Calibri"/>
                <a:cs typeface="Calibri"/>
              </a:rPr>
              <a:t>Rent tracked in spreadsheets and notebooks</a:t>
            </a:r>
          </a:p>
          <a:p>
            <a:pPr algn="l" marL="185420" indent="-185420">
              <a:spcAft>
                <a:spcPts val="1000"/>
              </a:spcAft>
              <a:buFont typeface="Arial"/>
              <a:buChar char="•"/>
            </a:pPr>
            <a:r>
              <a:rPr lang="en-GB" sz="1450" b="0" i="0" dirty="0">
                <a:solidFill>
                  <a:srgbClr val="1A1C1E"/>
                </a:solidFill>
                <a:latin typeface="Calibri"/>
                <a:cs typeface="Calibri"/>
              </a:rPr>
              <a:t>Arrears found at month end, not when they arise</a:t>
            </a:r>
          </a:p>
          <a:p>
            <a:pPr algn="l" marL="185420" indent="-185420">
              <a:spcAft>
                <a:spcPts val="1000"/>
              </a:spcAft>
              <a:buFont typeface="Arial"/>
              <a:buChar char="•"/>
            </a:pPr>
            <a:r>
              <a:rPr lang="en-GB" sz="1450" b="0" i="0" dirty="0">
                <a:solidFill>
                  <a:srgbClr val="1A1C1E"/>
                </a:solidFill>
                <a:latin typeface="Calibri"/>
                <a:cs typeface="Calibri"/>
              </a:rPr>
              <a:t>Repairs reported by phone, with no record</a:t>
            </a:r>
          </a:p>
          <a:p>
            <a:pPr algn="l" marL="185420" indent="-185420">
              <a:spcAft>
                <a:spcPts val="1000"/>
              </a:spcAft>
              <a:buFont typeface="Arial"/>
              <a:buChar char="•"/>
            </a:pPr>
            <a:r>
              <a:rPr lang="en-GB" sz="1450" b="0" i="0" dirty="0">
                <a:solidFill>
                  <a:srgbClr val="1A1C1E"/>
                </a:solidFill>
                <a:latin typeface="Calibri"/>
                <a:cs typeface="Calibri"/>
              </a:rPr>
              <a:t>Receipts written by hand, or not at all</a:t>
            </a:r>
          </a:p>
        </p:txBody>
      </p:sp>
      <p:sp>
        <p:nvSpPr>
          <p:cNvPr id="7" name="t7"/>
          <p:cNvSpPr txBox="1"/>
          <p:nvPr/>
        </p:nvSpPr>
        <p:spPr>
          <a:xfrm>
            <a:off x="877824" y="4617720"/>
            <a:ext cx="4389120" cy="777240"/>
          </a:xfrm>
          <a:prstGeom prst="rect">
            <a:avLst/>
          </a:prstGeom>
          <a:noFill/>
        </p:spPr>
        <p:txBody>
          <a:bodyPr wrap="square" lIns="0" tIns="0" rIns="0" bIns="0" anchor="t">
            <a:normAutofit/>
          </a:bodyPr>
          <a:lstStyle/>
          <a:p>
            <a:pPr algn="l" marL="0" indent="0">
              <a:buNone/>
            </a:pPr>
            <a:r>
              <a:rPr lang="en-GB" sz="1350" b="0" i="1" dirty="0">
                <a:solidFill>
                  <a:srgbClr val="5A6570"/>
                </a:solidFill>
                <a:latin typeface="Calibri"/>
                <a:cs typeface="Calibri"/>
              </a:rPr>
              <a:t>Small and medium landlords — the target market — have no system of record.</a:t>
            </a:r>
          </a:p>
        </p:txBody>
      </p:sp>
      <p:sp>
        <p:nvSpPr>
          <p:cNvPr id="8" name="s8"/>
          <p:cNvSpPr/>
          <p:nvPr/>
        </p:nvSpPr>
        <p:spPr>
          <a:xfrm>
            <a:off x="5925312" y="1554480"/>
            <a:ext cx="5696712" cy="1188720"/>
          </a:xfrm>
          <a:prstGeom prst="roundRect">
            <a:avLst>
              <a:gd name="adj" fmla="val 7692"/>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9" name="s9"/>
          <p:cNvSpPr/>
          <p:nvPr/>
        </p:nvSpPr>
        <p:spPr>
          <a:xfrm>
            <a:off x="6181344" y="1856232"/>
            <a:ext cx="566928" cy="566928"/>
          </a:xfrm>
          <a:prstGeom prst="ellipse">
            <a:avLst/>
          </a:prstGeom>
          <a:solidFill>
            <a:srgbClr val="FEA520"/>
          </a:solidFill>
          <a:ln>
            <a:noFill/>
          </a:ln>
        </p:spPr>
        <p:txBody>
          <a:bodyPr lIns="0" tIns="0" rIns="0" bIns="0" anchor="ctr"/>
          <a:lstStyle/>
          <a:p/>
        </p:txBody>
      </p:sp>
      <p:sp>
        <p:nvSpPr>
          <p:cNvPr id="10" name="t10"/>
          <p:cNvSpPr txBox="1"/>
          <p:nvPr/>
        </p:nvSpPr>
        <p:spPr>
          <a:xfrm>
            <a:off x="6181344" y="1856232"/>
            <a:ext cx="566928" cy="566928"/>
          </a:xfrm>
          <a:prstGeom prst="rect">
            <a:avLst/>
          </a:prstGeom>
          <a:noFill/>
        </p:spPr>
        <p:txBody>
          <a:bodyPr wrap="square" lIns="0" tIns="0" rIns="0" bIns="0" anchor="ctr">
            <a:normAutofit/>
          </a:bodyPr>
          <a:lstStyle/>
          <a:p>
            <a:pPr algn="ctr" marL="0" indent="0">
              <a:buNone/>
            </a:pPr>
            <a:r>
              <a:rPr lang="en-GB" sz="1900" b="1" i="0" dirty="0">
                <a:solidFill>
                  <a:srgbClr val="003857"/>
                </a:solidFill>
                <a:latin typeface="Calibri"/>
                <a:cs typeface="Calibri"/>
              </a:rPr>
              <a:t>1</a:t>
            </a:r>
          </a:p>
        </p:txBody>
      </p:sp>
      <p:sp>
        <p:nvSpPr>
          <p:cNvPr id="11" name="t11"/>
          <p:cNvSpPr txBox="1"/>
          <p:nvPr/>
        </p:nvSpPr>
        <p:spPr>
          <a:xfrm>
            <a:off x="6931152" y="1783080"/>
            <a:ext cx="4480560" cy="310896"/>
          </a:xfrm>
          <a:prstGeom prst="rect">
            <a:avLst/>
          </a:prstGeom>
          <a:noFill/>
        </p:spPr>
        <p:txBody>
          <a:bodyPr wrap="square" lIns="0" tIns="0" rIns="0" bIns="0" anchor="t">
            <a:normAutofit/>
          </a:bodyPr>
          <a:lstStyle/>
          <a:p>
            <a:pPr algn="l" marL="0" indent="0">
              <a:buNone/>
            </a:pPr>
            <a:r>
              <a:rPr lang="en-GB" sz="1550" b="1" i="0" dirty="0">
                <a:solidFill>
                  <a:srgbClr val="003857"/>
                </a:solidFill>
                <a:latin typeface="Calibri"/>
                <a:cs typeface="Calibri"/>
              </a:rPr>
              <a:t>One accurate record</a:t>
            </a:r>
          </a:p>
        </p:txBody>
      </p:sp>
      <p:sp>
        <p:nvSpPr>
          <p:cNvPr id="12" name="t12"/>
          <p:cNvSpPr txBox="1"/>
          <p:nvPr/>
        </p:nvSpPr>
        <p:spPr>
          <a:xfrm>
            <a:off x="6931152" y="2121408"/>
            <a:ext cx="4480560" cy="566928"/>
          </a:xfrm>
          <a:prstGeom prst="rect">
            <a:avLst/>
          </a:prstGeom>
          <a:noFill/>
        </p:spPr>
        <p:txBody>
          <a:bodyPr wrap="square" lIns="0" tIns="0" rIns="0" bIns="0" anchor="t">
            <a:normAutofit/>
          </a:bodyPr>
          <a:lstStyle/>
          <a:p>
            <a:pPr algn="l" marL="0" indent="0">
              <a:buNone/>
            </a:pPr>
            <a:r>
              <a:rPr lang="en-GB" sz="1200" b="0" i="0" dirty="0">
                <a:solidFill>
                  <a:srgbClr val="5A6570"/>
                </a:solidFill>
                <a:latin typeface="Calibri"/>
                <a:cs typeface="Calibri"/>
              </a:rPr>
              <a:t>Properties, units, tenants and leases in a single place</a:t>
            </a:r>
          </a:p>
        </p:txBody>
      </p:sp>
      <p:sp>
        <p:nvSpPr>
          <p:cNvPr id="13" name="s13"/>
          <p:cNvSpPr/>
          <p:nvPr/>
        </p:nvSpPr>
        <p:spPr>
          <a:xfrm>
            <a:off x="5925312" y="2926080"/>
            <a:ext cx="5696712" cy="1188720"/>
          </a:xfrm>
          <a:prstGeom prst="roundRect">
            <a:avLst>
              <a:gd name="adj" fmla="val 7692"/>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4" name="s14"/>
          <p:cNvSpPr/>
          <p:nvPr/>
        </p:nvSpPr>
        <p:spPr>
          <a:xfrm>
            <a:off x="6181344" y="3227832"/>
            <a:ext cx="566928" cy="566928"/>
          </a:xfrm>
          <a:prstGeom prst="ellipse">
            <a:avLst/>
          </a:prstGeom>
          <a:solidFill>
            <a:srgbClr val="FEA520"/>
          </a:solidFill>
          <a:ln>
            <a:noFill/>
          </a:ln>
        </p:spPr>
        <p:txBody>
          <a:bodyPr lIns="0" tIns="0" rIns="0" bIns="0" anchor="ctr"/>
          <a:lstStyle/>
          <a:p/>
        </p:txBody>
      </p:sp>
      <p:sp>
        <p:nvSpPr>
          <p:cNvPr id="15" name="t15"/>
          <p:cNvSpPr txBox="1"/>
          <p:nvPr/>
        </p:nvSpPr>
        <p:spPr>
          <a:xfrm>
            <a:off x="6181344" y="3227832"/>
            <a:ext cx="566928" cy="566928"/>
          </a:xfrm>
          <a:prstGeom prst="rect">
            <a:avLst/>
          </a:prstGeom>
          <a:noFill/>
        </p:spPr>
        <p:txBody>
          <a:bodyPr wrap="square" lIns="0" tIns="0" rIns="0" bIns="0" anchor="ctr">
            <a:normAutofit/>
          </a:bodyPr>
          <a:lstStyle/>
          <a:p>
            <a:pPr algn="ctr" marL="0" indent="0">
              <a:buNone/>
            </a:pPr>
            <a:r>
              <a:rPr lang="en-GB" sz="1900" b="1" i="0" dirty="0">
                <a:solidFill>
                  <a:srgbClr val="003857"/>
                </a:solidFill>
                <a:latin typeface="Calibri"/>
                <a:cs typeface="Calibri"/>
              </a:rPr>
              <a:t>2</a:t>
            </a:r>
          </a:p>
        </p:txBody>
      </p:sp>
      <p:sp>
        <p:nvSpPr>
          <p:cNvPr id="16" name="t16"/>
          <p:cNvSpPr txBox="1"/>
          <p:nvPr/>
        </p:nvSpPr>
        <p:spPr>
          <a:xfrm>
            <a:off x="6931152" y="3154680"/>
            <a:ext cx="4480560" cy="310896"/>
          </a:xfrm>
          <a:prstGeom prst="rect">
            <a:avLst/>
          </a:prstGeom>
          <a:noFill/>
        </p:spPr>
        <p:txBody>
          <a:bodyPr wrap="square" lIns="0" tIns="0" rIns="0" bIns="0" anchor="t">
            <a:normAutofit/>
          </a:bodyPr>
          <a:lstStyle/>
          <a:p>
            <a:pPr algn="l" marL="0" indent="0">
              <a:buNone/>
            </a:pPr>
            <a:r>
              <a:rPr lang="en-GB" sz="1550" b="1" i="0" dirty="0">
                <a:solidFill>
                  <a:srgbClr val="003857"/>
                </a:solidFill>
                <a:latin typeface="Calibri"/>
                <a:cs typeface="Calibri"/>
              </a:rPr>
              <a:t>Rent raised automatically</a:t>
            </a:r>
          </a:p>
        </p:txBody>
      </p:sp>
      <p:sp>
        <p:nvSpPr>
          <p:cNvPr id="17" name="t17"/>
          <p:cNvSpPr txBox="1"/>
          <p:nvPr/>
        </p:nvSpPr>
        <p:spPr>
          <a:xfrm>
            <a:off x="6931152" y="3493008"/>
            <a:ext cx="4480560" cy="566928"/>
          </a:xfrm>
          <a:prstGeom prst="rect">
            <a:avLst/>
          </a:prstGeom>
          <a:noFill/>
        </p:spPr>
        <p:txBody>
          <a:bodyPr wrap="square" lIns="0" tIns="0" rIns="0" bIns="0" anchor="t">
            <a:normAutofit/>
          </a:bodyPr>
          <a:lstStyle/>
          <a:p>
            <a:pPr algn="l" marL="0" indent="0">
              <a:buNone/>
            </a:pPr>
            <a:r>
              <a:rPr lang="en-GB" sz="1200" b="0" i="0" dirty="0">
                <a:solidFill>
                  <a:srgbClr val="5A6570"/>
                </a:solidFill>
                <a:latin typeface="Calibri"/>
                <a:cs typeface="Calibri"/>
              </a:rPr>
              <a:t>No charge is forgotten, every month, without human effort</a:t>
            </a:r>
          </a:p>
        </p:txBody>
      </p:sp>
      <p:sp>
        <p:nvSpPr>
          <p:cNvPr id="18" name="s18"/>
          <p:cNvSpPr/>
          <p:nvPr/>
        </p:nvSpPr>
        <p:spPr>
          <a:xfrm>
            <a:off x="5925312" y="4297680"/>
            <a:ext cx="5696712" cy="1188720"/>
          </a:xfrm>
          <a:prstGeom prst="roundRect">
            <a:avLst>
              <a:gd name="adj" fmla="val 7692"/>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9" name="s19"/>
          <p:cNvSpPr/>
          <p:nvPr/>
        </p:nvSpPr>
        <p:spPr>
          <a:xfrm>
            <a:off x="6181344" y="4599432"/>
            <a:ext cx="566928" cy="566928"/>
          </a:xfrm>
          <a:prstGeom prst="ellipse">
            <a:avLst/>
          </a:prstGeom>
          <a:solidFill>
            <a:srgbClr val="FEA520"/>
          </a:solidFill>
          <a:ln>
            <a:noFill/>
          </a:ln>
        </p:spPr>
        <p:txBody>
          <a:bodyPr lIns="0" tIns="0" rIns="0" bIns="0" anchor="ctr"/>
          <a:lstStyle/>
          <a:p/>
        </p:txBody>
      </p:sp>
      <p:sp>
        <p:nvSpPr>
          <p:cNvPr id="20" name="t20"/>
          <p:cNvSpPr txBox="1"/>
          <p:nvPr/>
        </p:nvSpPr>
        <p:spPr>
          <a:xfrm>
            <a:off x="6181344" y="4599432"/>
            <a:ext cx="566928" cy="566928"/>
          </a:xfrm>
          <a:prstGeom prst="rect">
            <a:avLst/>
          </a:prstGeom>
          <a:noFill/>
        </p:spPr>
        <p:txBody>
          <a:bodyPr wrap="square" lIns="0" tIns="0" rIns="0" bIns="0" anchor="ctr">
            <a:normAutofit/>
          </a:bodyPr>
          <a:lstStyle/>
          <a:p>
            <a:pPr algn="ctr" marL="0" indent="0">
              <a:buNone/>
            </a:pPr>
            <a:r>
              <a:rPr lang="en-GB" sz="1900" b="1" i="0" dirty="0">
                <a:solidFill>
                  <a:srgbClr val="003857"/>
                </a:solidFill>
                <a:latin typeface="Calibri"/>
                <a:cs typeface="Calibri"/>
              </a:rPr>
              <a:t>3</a:t>
            </a:r>
          </a:p>
        </p:txBody>
      </p:sp>
      <p:sp>
        <p:nvSpPr>
          <p:cNvPr id="21" name="t21"/>
          <p:cNvSpPr txBox="1"/>
          <p:nvPr/>
        </p:nvSpPr>
        <p:spPr>
          <a:xfrm>
            <a:off x="6931152" y="4526280"/>
            <a:ext cx="4480560" cy="310896"/>
          </a:xfrm>
          <a:prstGeom prst="rect">
            <a:avLst/>
          </a:prstGeom>
          <a:noFill/>
        </p:spPr>
        <p:txBody>
          <a:bodyPr wrap="square" lIns="0" tIns="0" rIns="0" bIns="0" anchor="t">
            <a:normAutofit/>
          </a:bodyPr>
          <a:lstStyle/>
          <a:p>
            <a:pPr algn="l" marL="0" indent="0">
              <a:buNone/>
            </a:pPr>
            <a:r>
              <a:rPr lang="en-GB" sz="1550" b="1" i="0" dirty="0">
                <a:solidFill>
                  <a:srgbClr val="003857"/>
                </a:solidFill>
                <a:latin typeface="Calibri"/>
                <a:cs typeface="Calibri"/>
              </a:rPr>
              <a:t>Arrears visible immediately</a:t>
            </a:r>
          </a:p>
        </p:txBody>
      </p:sp>
      <p:sp>
        <p:nvSpPr>
          <p:cNvPr id="22" name="t22"/>
          <p:cNvSpPr txBox="1"/>
          <p:nvPr/>
        </p:nvSpPr>
        <p:spPr>
          <a:xfrm>
            <a:off x="6931152" y="4864608"/>
            <a:ext cx="4480560" cy="566928"/>
          </a:xfrm>
          <a:prstGeom prst="rect">
            <a:avLst/>
          </a:prstGeom>
          <a:noFill/>
        </p:spPr>
        <p:txBody>
          <a:bodyPr wrap="square" lIns="0" tIns="0" rIns="0" bIns="0" anchor="t">
            <a:normAutofit/>
          </a:bodyPr>
          <a:lstStyle/>
          <a:p>
            <a:pPr algn="l" marL="0" indent="0">
              <a:buNone/>
            </a:pPr>
            <a:r>
              <a:rPr lang="en-GB" sz="1200" b="0" i="0" dirty="0">
                <a:solidFill>
                  <a:srgbClr val="5A6570"/>
                </a:solidFill>
                <a:latin typeface="Calibri"/>
                <a:cs typeface="Calibri"/>
              </a:rPr>
              <a:t>Overdue rent surfaces the day it arises, not at month end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2"/>
          <p:cNvSpPr txBox="1"/>
          <p:nvPr/>
        </p:nvSpPr>
        <p:spPr>
          <a:xfrm>
            <a:off x="566928" y="365760"/>
            <a:ext cx="11057839" cy="292608"/>
          </a:xfrm>
          <a:prstGeom prst="rect">
            <a:avLst/>
          </a:prstGeom>
          <a:noFill/>
        </p:spPr>
        <p:txBody>
          <a:bodyPr wrap="square" lIns="0" tIns="0" rIns="0" bIns="0" anchor="t">
            <a:normAutofit/>
          </a:bodyPr>
          <a:lstStyle/>
          <a:p>
            <a:pPr algn="l" marL="0" indent="0">
              <a:buNone/>
            </a:pPr>
            <a:r>
              <a:rPr lang="en-GB" sz="1200" b="1" i="0" spc="200" dirty="0">
                <a:solidFill>
                  <a:srgbClr val="FEA520"/>
                </a:solidFill>
                <a:latin typeface="Calibri"/>
                <a:cs typeface="Calibri"/>
              </a:rPr>
              <a:t>SECTION 1.2</a:t>
            </a:r>
          </a:p>
        </p:txBody>
      </p:sp>
      <p:sp>
        <p:nvSpPr>
          <p:cNvPr id="3" name="t3"/>
          <p:cNvSpPr txBox="1"/>
          <p:nvPr/>
        </p:nvSpPr>
        <p:spPr>
          <a:xfrm>
            <a:off x="566928" y="658368"/>
            <a:ext cx="11057839" cy="694944"/>
          </a:xfrm>
          <a:prstGeom prst="rect">
            <a:avLst/>
          </a:prstGeom>
          <a:noFill/>
        </p:spPr>
        <p:txBody>
          <a:bodyPr wrap="square" lIns="0" tIns="0" rIns="0" bIns="0" anchor="t">
            <a:normAutofit/>
          </a:bodyPr>
          <a:lstStyle/>
          <a:p>
            <a:pPr algn="l" marL="0" indent="0">
              <a:buNone/>
            </a:pPr>
            <a:r>
              <a:rPr lang="en-GB" sz="3200" b="1" i="0" dirty="0">
                <a:solidFill>
                  <a:srgbClr val="003857"/>
                </a:solidFill>
                <a:latin typeface="Calibri"/>
                <a:cs typeface="Calibri"/>
              </a:rPr>
              <a:t>Scope — bounded in both directions</a:t>
            </a:r>
          </a:p>
        </p:txBody>
      </p:sp>
      <p:sp>
        <p:nvSpPr>
          <p:cNvPr id="4" name="s4"/>
          <p:cNvSpPr/>
          <p:nvPr/>
        </p:nvSpPr>
        <p:spPr>
          <a:xfrm>
            <a:off x="566928" y="1554480"/>
            <a:ext cx="5532120" cy="4041648"/>
          </a:xfrm>
          <a:prstGeom prst="roundRect">
            <a:avLst>
              <a:gd name="adj" fmla="val 2714"/>
            </a:avLst>
          </a:prstGeom>
          <a:solidFill>
            <a:srgbClr val="F1F4F7"/>
          </a:solidFill>
          <a:ln w="12700">
            <a:solidFill>
              <a:srgbClr val="DCE3E9"/>
            </a:solidFill>
          </a:ln>
        </p:spPr>
        <p:txBody>
          <a:bodyPr lIns="0" tIns="0" rIns="0" bIns="0" anchor="ctr"/>
          <a:lstStyle/>
          <a:p/>
        </p:txBody>
      </p:sp>
      <p:sp>
        <p:nvSpPr>
          <p:cNvPr id="5" name="t5"/>
          <p:cNvSpPr txBox="1"/>
          <p:nvPr/>
        </p:nvSpPr>
        <p:spPr>
          <a:xfrm>
            <a:off x="877824" y="1792224"/>
            <a:ext cx="4910328" cy="365760"/>
          </a:xfrm>
          <a:prstGeom prst="rect">
            <a:avLst/>
          </a:prstGeom>
          <a:noFill/>
        </p:spPr>
        <p:txBody>
          <a:bodyPr wrap="square" lIns="0" tIns="0" rIns="0" bIns="0" anchor="t">
            <a:normAutofit/>
          </a:bodyPr>
          <a:lstStyle/>
          <a:p>
            <a:pPr algn="l" marL="0" indent="0">
              <a:buNone/>
            </a:pPr>
            <a:r>
              <a:rPr lang="en-GB" sz="1800" b="1" i="0" dirty="0">
                <a:solidFill>
                  <a:srgbClr val="003857"/>
                </a:solidFill>
                <a:latin typeface="Calibri"/>
                <a:cs typeface="Calibri"/>
              </a:rPr>
              <a:t>In scope</a:t>
            </a:r>
          </a:p>
        </p:txBody>
      </p:sp>
      <p:sp>
        <p:nvSpPr>
          <p:cNvPr id="6" name="t6"/>
          <p:cNvSpPr txBox="1"/>
          <p:nvPr/>
        </p:nvSpPr>
        <p:spPr>
          <a:xfrm>
            <a:off x="877824" y="2267712"/>
            <a:ext cx="4910328" cy="3200400"/>
          </a:xfrm>
          <a:prstGeom prst="rect">
            <a:avLst/>
          </a:prstGeom>
          <a:noFill/>
        </p:spPr>
        <p:txBody>
          <a:bodyPr wrap="square" lIns="0" tIns="0" rIns="0" bIns="0" anchor="t">
            <a:normAutofit/>
          </a:bodyPr>
          <a:lstStyle/>
          <a:p>
            <a:pPr algn="l" marL="185420" indent="-185420">
              <a:spcAft>
                <a:spcPts val="900"/>
              </a:spcAft>
              <a:buFont typeface="Arial"/>
              <a:buChar char="•"/>
            </a:pPr>
            <a:r>
              <a:rPr lang="en-GB" sz="1350" b="0" i="0" dirty="0">
                <a:solidFill>
                  <a:srgbClr val="1A1C1E"/>
                </a:solidFill>
                <a:latin typeface="Calibri"/>
                <a:cs typeface="Calibri"/>
              </a:rPr>
              <a:t>Accounts and role-based access for three roles</a:t>
            </a:r>
          </a:p>
          <a:p>
            <a:pPr algn="l" marL="185420" indent="-185420">
              <a:spcAft>
                <a:spcPts val="900"/>
              </a:spcAft>
              <a:buFont typeface="Arial"/>
              <a:buChar char="•"/>
            </a:pPr>
            <a:r>
              <a:rPr lang="en-GB" sz="1350" b="0" i="0" dirty="0">
                <a:solidFill>
                  <a:srgbClr val="1A1C1E"/>
                </a:solidFill>
                <a:latin typeface="Calibri"/>
                <a:cs typeface="Calibri"/>
              </a:rPr>
              <a:t>Guided onboarding: property, houses, units, tenants</a:t>
            </a:r>
          </a:p>
          <a:p>
            <a:pPr algn="l" marL="185420" indent="-185420">
              <a:spcAft>
                <a:spcPts val="900"/>
              </a:spcAft>
              <a:buFont typeface="Arial"/>
              <a:buChar char="•"/>
            </a:pPr>
            <a:r>
              <a:rPr lang="en-GB" sz="1350" b="0" i="0" dirty="0">
                <a:solidFill>
                  <a:srgbClr val="1A1C1E"/>
                </a:solidFill>
                <a:latin typeface="Calibri"/>
                <a:cs typeface="Calibri"/>
              </a:rPr>
              <a:t>Portfolio: properties, units and photographs</a:t>
            </a:r>
          </a:p>
          <a:p>
            <a:pPr algn="l" marL="185420" indent="-185420">
              <a:spcAft>
                <a:spcPts val="900"/>
              </a:spcAft>
              <a:buFont typeface="Arial"/>
              <a:buChar char="•"/>
            </a:pPr>
            <a:r>
              <a:rPr lang="en-GB" sz="1350" b="0" i="0" dirty="0">
                <a:solidFill>
                  <a:srgbClr val="1A1C1E"/>
                </a:solidFill>
                <a:latin typeface="Calibri"/>
                <a:cs typeface="Calibri"/>
              </a:rPr>
              <a:t>Tenants, leases and unit assignment</a:t>
            </a:r>
          </a:p>
          <a:p>
            <a:pPr algn="l" marL="185420" indent="-185420">
              <a:spcAft>
                <a:spcPts val="900"/>
              </a:spcAft>
              <a:buFont typeface="Arial"/>
              <a:buChar char="•"/>
            </a:pPr>
            <a:r>
              <a:rPr lang="en-GB" sz="1350" b="0" i="0" dirty="0">
                <a:solidFill>
                  <a:srgbClr val="1A1C1E"/>
                </a:solidFill>
                <a:latin typeface="Calibri"/>
                <a:cs typeface="Calibri"/>
              </a:rPr>
              <a:t>Automatic rent cycle, payments and receipts</a:t>
            </a:r>
          </a:p>
          <a:p>
            <a:pPr algn="l" marL="185420" indent="-185420">
              <a:spcAft>
                <a:spcPts val="900"/>
              </a:spcAft>
              <a:buFont typeface="Arial"/>
              <a:buChar char="•"/>
            </a:pPr>
            <a:r>
              <a:rPr lang="en-GB" sz="1350" b="0" i="0" dirty="0">
                <a:solidFill>
                  <a:srgbClr val="1A1C1E"/>
                </a:solidFill>
                <a:latin typeface="Calibri"/>
                <a:cs typeface="Calibri"/>
              </a:rPr>
              <a:t>Maintenance workflow and tenancy messaging</a:t>
            </a:r>
          </a:p>
          <a:p>
            <a:pPr algn="l" marL="185420" indent="-185420">
              <a:spcAft>
                <a:spcPts val="900"/>
              </a:spcAft>
              <a:buFont typeface="Arial"/>
              <a:buChar char="•"/>
            </a:pPr>
            <a:r>
              <a:rPr lang="en-GB" sz="1350" b="0" i="0" dirty="0">
                <a:solidFill>
                  <a:srgbClr val="1A1C1E"/>
                </a:solidFill>
                <a:latin typeface="Calibri"/>
                <a:cs typeface="Calibri"/>
              </a:rPr>
              <a:t>Dashboards and spreadsheet exports</a:t>
            </a:r>
          </a:p>
        </p:txBody>
      </p:sp>
      <p:sp>
        <p:nvSpPr>
          <p:cNvPr id="7" name="s7"/>
          <p:cNvSpPr/>
          <p:nvPr/>
        </p:nvSpPr>
        <p:spPr>
          <a:xfrm>
            <a:off x="6656832" y="1554480"/>
            <a:ext cx="4965192" cy="4041648"/>
          </a:xfrm>
          <a:prstGeom prst="roundRect">
            <a:avLst>
              <a:gd name="adj" fmla="val 2714"/>
            </a:avLst>
          </a:prstGeom>
          <a:solidFill>
            <a:srgbClr val="FAFBFC"/>
          </a:solidFill>
          <a:ln w="12700">
            <a:solidFill>
              <a:srgbClr val="DCE3E9"/>
            </a:solidFill>
          </a:ln>
        </p:spPr>
        <p:txBody>
          <a:bodyPr lIns="0" tIns="0" rIns="0" bIns="0" anchor="ctr"/>
          <a:lstStyle/>
          <a:p/>
        </p:txBody>
      </p:sp>
      <p:sp>
        <p:nvSpPr>
          <p:cNvPr id="8" name="t8"/>
          <p:cNvSpPr txBox="1"/>
          <p:nvPr/>
        </p:nvSpPr>
        <p:spPr>
          <a:xfrm>
            <a:off x="6967728" y="1792224"/>
            <a:ext cx="4343400" cy="365760"/>
          </a:xfrm>
          <a:prstGeom prst="rect">
            <a:avLst/>
          </a:prstGeom>
          <a:noFill/>
        </p:spPr>
        <p:txBody>
          <a:bodyPr wrap="square" lIns="0" tIns="0" rIns="0" bIns="0" anchor="t">
            <a:normAutofit/>
          </a:bodyPr>
          <a:lstStyle/>
          <a:p>
            <a:pPr algn="l" marL="0" indent="0">
              <a:buNone/>
            </a:pPr>
            <a:r>
              <a:rPr lang="en-GB" sz="1800" b="1" i="0" dirty="0">
                <a:solidFill>
                  <a:srgbClr val="5A6570"/>
                </a:solidFill>
                <a:latin typeface="Calibri"/>
                <a:cs typeface="Calibri"/>
              </a:rPr>
              <a:t>Out of scope</a:t>
            </a:r>
          </a:p>
        </p:txBody>
      </p:sp>
      <p:sp>
        <p:nvSpPr>
          <p:cNvPr id="9" name="t9"/>
          <p:cNvSpPr txBox="1"/>
          <p:nvPr/>
        </p:nvSpPr>
        <p:spPr>
          <a:xfrm>
            <a:off x="6967728" y="2267712"/>
            <a:ext cx="4343400" cy="3200400"/>
          </a:xfrm>
          <a:prstGeom prst="rect">
            <a:avLst/>
          </a:prstGeom>
          <a:noFill/>
        </p:spPr>
        <p:txBody>
          <a:bodyPr wrap="square" lIns="0" tIns="0" rIns="0" bIns="0" anchor="t">
            <a:normAutofit/>
          </a:bodyPr>
          <a:lstStyle/>
          <a:p>
            <a:pPr algn="l" marL="185420" indent="-185420">
              <a:spcAft>
                <a:spcPts val="900"/>
              </a:spcAft>
              <a:buFont typeface="Arial"/>
              <a:buChar char="•"/>
            </a:pPr>
            <a:r>
              <a:rPr lang="en-GB" sz="1350" b="0" i="0" dirty="0">
                <a:solidFill>
                  <a:srgbClr val="5A6570"/>
                </a:solidFill>
                <a:latin typeface="Calibri"/>
                <a:cs typeface="Calibri"/>
              </a:rPr>
              <a:t>Online payment gateway or mobile money</a:t>
            </a:r>
          </a:p>
          <a:p>
            <a:pPr algn="l" marL="185420" indent="-185420">
              <a:spcAft>
                <a:spcPts val="900"/>
              </a:spcAft>
              <a:buFont typeface="Arial"/>
              <a:buChar char="•"/>
            </a:pPr>
            <a:r>
              <a:rPr lang="en-GB" sz="1350" b="0" i="0" dirty="0">
                <a:solidFill>
                  <a:srgbClr val="5A6570"/>
                </a:solidFill>
                <a:latin typeface="Calibri"/>
                <a:cs typeface="Calibri"/>
              </a:rPr>
              <a:t>Automated SMS and e-mail reminders</a:t>
            </a:r>
          </a:p>
          <a:p>
            <a:pPr algn="l" marL="185420" indent="-185420">
              <a:spcAft>
                <a:spcPts val="900"/>
              </a:spcAft>
              <a:buFont typeface="Arial"/>
              <a:buChar char="•"/>
            </a:pPr>
            <a:r>
              <a:rPr lang="en-GB" sz="1350" b="0" i="0" dirty="0">
                <a:solidFill>
                  <a:srgbClr val="5A6570"/>
                </a:solidFill>
                <a:latin typeface="Calibri"/>
                <a:cs typeface="Calibri"/>
              </a:rPr>
              <a:t>Subscription billing for the price plans</a:t>
            </a:r>
          </a:p>
          <a:p>
            <a:pPr algn="l" marL="185420" indent="-185420">
              <a:spcAft>
                <a:spcPts val="900"/>
              </a:spcAft>
              <a:buFont typeface="Arial"/>
              <a:buChar char="•"/>
            </a:pPr>
            <a:r>
              <a:rPr lang="en-GB" sz="1350" b="0" i="0" dirty="0">
                <a:solidFill>
                  <a:srgbClr val="5A6570"/>
                </a:solidFill>
                <a:latin typeface="Calibri"/>
                <a:cs typeface="Calibri"/>
              </a:rPr>
              <a:t>Lease documents and e-signature</a:t>
            </a:r>
          </a:p>
          <a:p>
            <a:pPr algn="l" marL="185420" indent="-185420">
              <a:spcAft>
                <a:spcPts val="900"/>
              </a:spcAft>
              <a:buFont typeface="Arial"/>
              <a:buChar char="•"/>
            </a:pPr>
            <a:r>
              <a:rPr lang="en-GB" sz="1350" b="0" i="0" dirty="0">
                <a:solidFill>
                  <a:srgbClr val="5A6570"/>
                </a:solidFill>
                <a:latin typeface="Calibri"/>
                <a:cs typeface="Calibri"/>
              </a:rPr>
              <a:t>Tenant credit screening</a:t>
            </a:r>
          </a:p>
          <a:p>
            <a:pPr algn="l" marL="185420" indent="-185420">
              <a:spcAft>
                <a:spcPts val="900"/>
              </a:spcAft>
              <a:buFont typeface="Arial"/>
              <a:buChar char="•"/>
            </a:pPr>
            <a:r>
              <a:rPr lang="en-GB" sz="1350" b="0" i="0" dirty="0">
                <a:solidFill>
                  <a:srgbClr val="5A6570"/>
                </a:solidFill>
                <a:latin typeface="Calibri"/>
                <a:cs typeface="Calibri"/>
              </a:rPr>
              <a:t>A native mobile application</a:t>
            </a:r>
          </a:p>
        </p:txBody>
      </p:sp>
      <p:sp>
        <p:nvSpPr>
          <p:cNvPr id="10" name="t10"/>
          <p:cNvSpPr txBox="1"/>
          <p:nvPr/>
        </p:nvSpPr>
        <p:spPr>
          <a:xfrm>
            <a:off x="566928" y="5779008"/>
            <a:ext cx="11057839" cy="365760"/>
          </a:xfrm>
          <a:prstGeom prst="rect">
            <a:avLst/>
          </a:prstGeom>
          <a:noFill/>
        </p:spPr>
        <p:txBody>
          <a:bodyPr wrap="square" lIns="0" tIns="0" rIns="0" bIns="0" anchor="t">
            <a:normAutofit/>
          </a:bodyPr>
          <a:lstStyle/>
          <a:p>
            <a:pPr algn="l" marL="0" indent="0">
              <a:buNone/>
            </a:pPr>
            <a:r>
              <a:rPr lang="en-GB" sz="1300" b="0" i="1" dirty="0">
                <a:solidFill>
                  <a:srgbClr val="5A6570"/>
                </a:solidFill>
                <a:latin typeface="Calibri"/>
                <a:cs typeface="Calibri"/>
              </a:rPr>
              <a:t>Everything excluded is either specified as future scope (FS-01…FS-09) or given a reason.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2"/>
          <p:cNvSpPr txBox="1"/>
          <p:nvPr/>
        </p:nvSpPr>
        <p:spPr>
          <a:xfrm>
            <a:off x="566928" y="365760"/>
            <a:ext cx="11057839" cy="292608"/>
          </a:xfrm>
          <a:prstGeom prst="rect">
            <a:avLst/>
          </a:prstGeom>
          <a:noFill/>
        </p:spPr>
        <p:txBody>
          <a:bodyPr wrap="square" lIns="0" tIns="0" rIns="0" bIns="0" anchor="t">
            <a:normAutofit/>
          </a:bodyPr>
          <a:lstStyle/>
          <a:p>
            <a:pPr algn="l" marL="0" indent="0">
              <a:buNone/>
            </a:pPr>
            <a:r>
              <a:rPr lang="en-GB" sz="1200" b="1" i="0" spc="200" dirty="0">
                <a:solidFill>
                  <a:srgbClr val="FEA520"/>
                </a:solidFill>
                <a:latin typeface="Calibri"/>
                <a:cs typeface="Calibri"/>
              </a:rPr>
              <a:t>SECTION 2.3</a:t>
            </a:r>
          </a:p>
        </p:txBody>
      </p:sp>
      <p:sp>
        <p:nvSpPr>
          <p:cNvPr id="3" name="t3"/>
          <p:cNvSpPr txBox="1"/>
          <p:nvPr/>
        </p:nvSpPr>
        <p:spPr>
          <a:xfrm>
            <a:off x="566928" y="658368"/>
            <a:ext cx="11057839" cy="694944"/>
          </a:xfrm>
          <a:prstGeom prst="rect">
            <a:avLst/>
          </a:prstGeom>
          <a:noFill/>
        </p:spPr>
        <p:txBody>
          <a:bodyPr wrap="square" lIns="0" tIns="0" rIns="0" bIns="0" anchor="t">
            <a:normAutofit/>
          </a:bodyPr>
          <a:lstStyle/>
          <a:p>
            <a:pPr algn="l" marL="0" indent="0">
              <a:buNone/>
            </a:pPr>
            <a:r>
              <a:rPr lang="en-GB" sz="3200" b="1" i="0" dirty="0">
                <a:solidFill>
                  <a:srgbClr val="003857"/>
                </a:solidFill>
                <a:latin typeface="Calibri"/>
                <a:cs typeface="Calibri"/>
              </a:rPr>
              <a:t>Four user classes, one system</a:t>
            </a:r>
          </a:p>
        </p:txBody>
      </p:sp>
      <p:sp>
        <p:nvSpPr>
          <p:cNvPr id="4" name="s4"/>
          <p:cNvSpPr/>
          <p:nvPr/>
        </p:nvSpPr>
        <p:spPr>
          <a:xfrm>
            <a:off x="566928" y="1627632"/>
            <a:ext cx="2615184" cy="3858768"/>
          </a:xfrm>
          <a:prstGeom prst="roundRect">
            <a:avLst>
              <a:gd name="adj" fmla="val 4195"/>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5" name="s5"/>
          <p:cNvSpPr/>
          <p:nvPr/>
        </p:nvSpPr>
        <p:spPr>
          <a:xfrm>
            <a:off x="566928" y="1627632"/>
            <a:ext cx="2615184" cy="932688"/>
          </a:xfrm>
          <a:prstGeom prst="roundRect">
            <a:avLst>
              <a:gd name="adj" fmla="val 9803"/>
            </a:avLst>
          </a:prstGeom>
          <a:solidFill>
            <a:srgbClr val="003857"/>
          </a:solidFill>
          <a:ln>
            <a:noFill/>
          </a:ln>
        </p:spPr>
        <p:txBody>
          <a:bodyPr lIns="0" tIns="0" rIns="0" bIns="0" anchor="ctr"/>
          <a:lstStyle/>
          <a:p/>
        </p:txBody>
      </p:sp>
      <p:sp>
        <p:nvSpPr>
          <p:cNvPr id="6" name="t6"/>
          <p:cNvSpPr txBox="1"/>
          <p:nvPr/>
        </p:nvSpPr>
        <p:spPr>
          <a:xfrm>
            <a:off x="713232" y="1682496"/>
            <a:ext cx="2322576" cy="822960"/>
          </a:xfrm>
          <a:prstGeom prst="rect">
            <a:avLst/>
          </a:prstGeom>
          <a:noFill/>
        </p:spPr>
        <p:txBody>
          <a:bodyPr wrap="square" lIns="0" tIns="0" rIns="0" bIns="0" anchor="ctr">
            <a:normAutofit/>
          </a:bodyPr>
          <a:lstStyle/>
          <a:p>
            <a:pPr algn="ctr" marL="0" indent="0">
              <a:buNone/>
            </a:pPr>
            <a:r>
              <a:rPr lang="en-GB" sz="1600" b="1" i="0" dirty="0">
                <a:solidFill>
                  <a:srgbClr val="FFFFFF"/>
                </a:solidFill>
                <a:latin typeface="Calibri"/>
                <a:cs typeface="Calibri"/>
              </a:rPr>
              <a:t>Landlord</a:t>
            </a:r>
          </a:p>
        </p:txBody>
      </p:sp>
      <p:sp>
        <p:nvSpPr>
          <p:cNvPr id="7" name="t7"/>
          <p:cNvSpPr txBox="1"/>
          <p:nvPr/>
        </p:nvSpPr>
        <p:spPr>
          <a:xfrm>
            <a:off x="713232" y="2724912"/>
            <a:ext cx="2322576" cy="512064"/>
          </a:xfrm>
          <a:prstGeom prst="rect">
            <a:avLst/>
          </a:prstGeom>
          <a:noFill/>
        </p:spPr>
        <p:txBody>
          <a:bodyPr wrap="square" lIns="0" tIns="0" rIns="0" bIns="0" anchor="t">
            <a:normAutofit/>
          </a:bodyPr>
          <a:lstStyle/>
          <a:p>
            <a:pPr algn="ctr" marL="0" indent="0">
              <a:buNone/>
            </a:pPr>
            <a:r>
              <a:rPr lang="en-GB" sz="2300" b="1" i="0" dirty="0">
                <a:solidFill>
                  <a:srgbClr val="FEA520"/>
                </a:solidFill>
                <a:latin typeface="Calibri"/>
                <a:cs typeface="Calibri"/>
              </a:rPr>
              <a:t>Up to 500</a:t>
            </a:r>
          </a:p>
        </p:txBody>
      </p:sp>
      <p:sp>
        <p:nvSpPr>
          <p:cNvPr id="8" name="t8"/>
          <p:cNvSpPr txBox="1"/>
          <p:nvPr/>
        </p:nvSpPr>
        <p:spPr>
          <a:xfrm>
            <a:off x="713232" y="3218688"/>
            <a:ext cx="2322576" cy="274320"/>
          </a:xfrm>
          <a:prstGeom prst="rect">
            <a:avLst/>
          </a:prstGeom>
          <a:noFill/>
        </p:spPr>
        <p:txBody>
          <a:bodyPr wrap="square" lIns="0" tIns="0" rIns="0" bIns="0" anchor="t">
            <a:normAutofit/>
          </a:bodyPr>
          <a:lstStyle/>
          <a:p>
            <a:pPr algn="ctr" marL="0" indent="0">
              <a:buNone/>
            </a:pPr>
            <a:r>
              <a:rPr lang="en-GB" sz="1000" b="0" i="0" dirty="0">
                <a:solidFill>
                  <a:srgbClr val="5A6570"/>
                </a:solidFill>
                <a:latin typeface="Calibri"/>
                <a:cs typeface="Calibri"/>
              </a:rPr>
              <a:t>expected users</a:t>
            </a:r>
          </a:p>
        </p:txBody>
      </p:sp>
      <p:sp>
        <p:nvSpPr>
          <p:cNvPr id="9" name="t9"/>
          <p:cNvSpPr txBox="1"/>
          <p:nvPr/>
        </p:nvSpPr>
        <p:spPr>
          <a:xfrm>
            <a:off x="713232" y="3584448"/>
            <a:ext cx="2322576" cy="292608"/>
          </a:xfrm>
          <a:prstGeom prst="rect">
            <a:avLst/>
          </a:prstGeom>
          <a:noFill/>
        </p:spPr>
        <p:txBody>
          <a:bodyPr wrap="square" lIns="0" tIns="0" rIns="0" bIns="0" anchor="t">
            <a:normAutofit/>
          </a:bodyPr>
          <a:lstStyle/>
          <a:p>
            <a:pPr algn="ctr" marL="0" indent="0">
              <a:buNone/>
            </a:pPr>
            <a:r>
              <a:rPr lang="en-GB" sz="1200" b="1" i="0" dirty="0">
                <a:solidFill>
                  <a:srgbClr val="003857"/>
                </a:solidFill>
                <a:latin typeface="Calibri"/>
                <a:cs typeface="Calibri"/>
              </a:rPr>
              <a:t>Laptop and mobile</a:t>
            </a:r>
          </a:p>
        </p:txBody>
      </p:sp>
      <p:sp>
        <p:nvSpPr>
          <p:cNvPr id="10" name="t10"/>
          <p:cNvSpPr txBox="1"/>
          <p:nvPr/>
        </p:nvSpPr>
        <p:spPr>
          <a:xfrm>
            <a:off x="768096" y="3950208"/>
            <a:ext cx="2212848" cy="1417320"/>
          </a:xfrm>
          <a:prstGeom prst="rect">
            <a:avLst/>
          </a:prstGeom>
          <a:noFill/>
        </p:spPr>
        <p:txBody>
          <a:bodyPr wrap="square" lIns="0" tIns="0" rIns="0" bIns="0" anchor="t">
            <a:normAutofit/>
          </a:bodyPr>
          <a:lstStyle/>
          <a:p>
            <a:pPr algn="ctr" marL="0" indent="0">
              <a:buNone/>
            </a:pPr>
            <a:r>
              <a:rPr lang="en-GB" sz="1150" b="0" i="0" dirty="0">
                <a:solidFill>
                  <a:srgbClr val="5A6570"/>
                </a:solidFill>
                <a:latin typeface="Calibri"/>
                <a:cs typeface="Calibri"/>
              </a:rPr>
              <a:t>Knows what rent is outstanding; records payments; resolves repairs</a:t>
            </a:r>
          </a:p>
        </p:txBody>
      </p:sp>
      <p:sp>
        <p:nvSpPr>
          <p:cNvPr id="11" name="s11"/>
          <p:cNvSpPr/>
          <p:nvPr/>
        </p:nvSpPr>
        <p:spPr>
          <a:xfrm>
            <a:off x="3401568" y="1627632"/>
            <a:ext cx="2615184" cy="3858768"/>
          </a:xfrm>
          <a:prstGeom prst="roundRect">
            <a:avLst>
              <a:gd name="adj" fmla="val 4195"/>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2" name="s12"/>
          <p:cNvSpPr/>
          <p:nvPr/>
        </p:nvSpPr>
        <p:spPr>
          <a:xfrm>
            <a:off x="3401568" y="1627632"/>
            <a:ext cx="2615184" cy="932688"/>
          </a:xfrm>
          <a:prstGeom prst="roundRect">
            <a:avLst>
              <a:gd name="adj" fmla="val 9803"/>
            </a:avLst>
          </a:prstGeom>
          <a:solidFill>
            <a:srgbClr val="1B4F72"/>
          </a:solidFill>
          <a:ln>
            <a:noFill/>
          </a:ln>
        </p:spPr>
        <p:txBody>
          <a:bodyPr lIns="0" tIns="0" rIns="0" bIns="0" anchor="ctr"/>
          <a:lstStyle/>
          <a:p/>
        </p:txBody>
      </p:sp>
      <p:sp>
        <p:nvSpPr>
          <p:cNvPr id="13" name="t13"/>
          <p:cNvSpPr txBox="1"/>
          <p:nvPr/>
        </p:nvSpPr>
        <p:spPr>
          <a:xfrm>
            <a:off x="3547872" y="1682496"/>
            <a:ext cx="2322576" cy="822960"/>
          </a:xfrm>
          <a:prstGeom prst="rect">
            <a:avLst/>
          </a:prstGeom>
          <a:noFill/>
        </p:spPr>
        <p:txBody>
          <a:bodyPr wrap="square" lIns="0" tIns="0" rIns="0" bIns="0" anchor="ctr">
            <a:normAutofit/>
          </a:bodyPr>
          <a:lstStyle/>
          <a:p>
            <a:pPr algn="ctr" marL="0" indent="0">
              <a:buNone/>
            </a:pPr>
            <a:r>
              <a:rPr lang="en-GB" sz="1600" b="1" i="0" dirty="0">
                <a:solidFill>
                  <a:srgbClr val="FFFFFF"/>
                </a:solidFill>
                <a:latin typeface="Calibri"/>
                <a:cs typeface="Calibri"/>
              </a:rPr>
              <a:t>Tenant</a:t>
            </a:r>
          </a:p>
        </p:txBody>
      </p:sp>
      <p:sp>
        <p:nvSpPr>
          <p:cNvPr id="14" name="t14"/>
          <p:cNvSpPr txBox="1"/>
          <p:nvPr/>
        </p:nvSpPr>
        <p:spPr>
          <a:xfrm>
            <a:off x="3547872" y="2724912"/>
            <a:ext cx="2322576" cy="512064"/>
          </a:xfrm>
          <a:prstGeom prst="rect">
            <a:avLst/>
          </a:prstGeom>
          <a:noFill/>
        </p:spPr>
        <p:txBody>
          <a:bodyPr wrap="square" lIns="0" tIns="0" rIns="0" bIns="0" anchor="t">
            <a:normAutofit/>
          </a:bodyPr>
          <a:lstStyle/>
          <a:p>
            <a:pPr algn="ctr" marL="0" indent="0">
              <a:buNone/>
            </a:pPr>
            <a:r>
              <a:rPr lang="en-GB" sz="2300" b="1" i="0" dirty="0">
                <a:solidFill>
                  <a:srgbClr val="FEA520"/>
                </a:solidFill>
                <a:latin typeface="Calibri"/>
                <a:cs typeface="Calibri"/>
              </a:rPr>
              <a:t>Up to 5,000</a:t>
            </a:r>
          </a:p>
        </p:txBody>
      </p:sp>
      <p:sp>
        <p:nvSpPr>
          <p:cNvPr id="15" name="t15"/>
          <p:cNvSpPr txBox="1"/>
          <p:nvPr/>
        </p:nvSpPr>
        <p:spPr>
          <a:xfrm>
            <a:off x="3547872" y="3218688"/>
            <a:ext cx="2322576" cy="274320"/>
          </a:xfrm>
          <a:prstGeom prst="rect">
            <a:avLst/>
          </a:prstGeom>
          <a:noFill/>
        </p:spPr>
        <p:txBody>
          <a:bodyPr wrap="square" lIns="0" tIns="0" rIns="0" bIns="0" anchor="t">
            <a:normAutofit/>
          </a:bodyPr>
          <a:lstStyle/>
          <a:p>
            <a:pPr algn="ctr" marL="0" indent="0">
              <a:buNone/>
            </a:pPr>
            <a:r>
              <a:rPr lang="en-GB" sz="1000" b="0" i="0" dirty="0">
                <a:solidFill>
                  <a:srgbClr val="5A6570"/>
                </a:solidFill>
                <a:latin typeface="Calibri"/>
                <a:cs typeface="Calibri"/>
              </a:rPr>
              <a:t>expected users</a:t>
            </a:r>
          </a:p>
        </p:txBody>
      </p:sp>
      <p:sp>
        <p:nvSpPr>
          <p:cNvPr id="16" name="t16"/>
          <p:cNvSpPr txBox="1"/>
          <p:nvPr/>
        </p:nvSpPr>
        <p:spPr>
          <a:xfrm>
            <a:off x="3547872" y="3584448"/>
            <a:ext cx="2322576" cy="292608"/>
          </a:xfrm>
          <a:prstGeom prst="rect">
            <a:avLst/>
          </a:prstGeom>
          <a:noFill/>
        </p:spPr>
        <p:txBody>
          <a:bodyPr wrap="square" lIns="0" tIns="0" rIns="0" bIns="0" anchor="t">
            <a:normAutofit/>
          </a:bodyPr>
          <a:lstStyle/>
          <a:p>
            <a:pPr algn="ctr" marL="0" indent="0">
              <a:buNone/>
            </a:pPr>
            <a:r>
              <a:rPr lang="en-GB" sz="1200" b="1" i="0" dirty="0">
                <a:solidFill>
                  <a:srgbClr val="003857"/>
                </a:solidFill>
                <a:latin typeface="Calibri"/>
                <a:cs typeface="Calibri"/>
              </a:rPr>
              <a:t>Mobile phone</a:t>
            </a:r>
          </a:p>
        </p:txBody>
      </p:sp>
      <p:sp>
        <p:nvSpPr>
          <p:cNvPr id="17" name="t17"/>
          <p:cNvSpPr txBox="1"/>
          <p:nvPr/>
        </p:nvSpPr>
        <p:spPr>
          <a:xfrm>
            <a:off x="3602736" y="3950208"/>
            <a:ext cx="2212848" cy="1417320"/>
          </a:xfrm>
          <a:prstGeom prst="rect">
            <a:avLst/>
          </a:prstGeom>
          <a:noFill/>
        </p:spPr>
        <p:txBody>
          <a:bodyPr wrap="square" lIns="0" tIns="0" rIns="0" bIns="0" anchor="t">
            <a:normAutofit/>
          </a:bodyPr>
          <a:lstStyle/>
          <a:p>
            <a:pPr algn="ctr" marL="0" indent="0">
              <a:buNone/>
            </a:pPr>
            <a:r>
              <a:rPr lang="en-GB" sz="1150" b="0" i="0" dirty="0">
                <a:solidFill>
                  <a:srgbClr val="5A6570"/>
                </a:solidFill>
                <a:latin typeface="Calibri"/>
                <a:cs typeface="Calibri"/>
              </a:rPr>
              <a:t>Checks rent status, gets a receipt, reports a fault</a:t>
            </a:r>
          </a:p>
        </p:txBody>
      </p:sp>
      <p:sp>
        <p:nvSpPr>
          <p:cNvPr id="18" name="s18"/>
          <p:cNvSpPr/>
          <p:nvPr/>
        </p:nvSpPr>
        <p:spPr>
          <a:xfrm>
            <a:off x="6236208" y="1627632"/>
            <a:ext cx="2615184" cy="3858768"/>
          </a:xfrm>
          <a:prstGeom prst="roundRect">
            <a:avLst>
              <a:gd name="adj" fmla="val 4195"/>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9" name="s19"/>
          <p:cNvSpPr/>
          <p:nvPr/>
        </p:nvSpPr>
        <p:spPr>
          <a:xfrm>
            <a:off x="6236208" y="1627632"/>
            <a:ext cx="2615184" cy="932688"/>
          </a:xfrm>
          <a:prstGeom prst="roundRect">
            <a:avLst>
              <a:gd name="adj" fmla="val 9803"/>
            </a:avLst>
          </a:prstGeom>
          <a:solidFill>
            <a:srgbClr val="1B4F72"/>
          </a:solidFill>
          <a:ln>
            <a:noFill/>
          </a:ln>
        </p:spPr>
        <p:txBody>
          <a:bodyPr lIns="0" tIns="0" rIns="0" bIns="0" anchor="ctr"/>
          <a:lstStyle/>
          <a:p/>
        </p:txBody>
      </p:sp>
      <p:sp>
        <p:nvSpPr>
          <p:cNvPr id="20" name="t20"/>
          <p:cNvSpPr txBox="1"/>
          <p:nvPr/>
        </p:nvSpPr>
        <p:spPr>
          <a:xfrm>
            <a:off x="6382512" y="1682496"/>
            <a:ext cx="2322576" cy="822960"/>
          </a:xfrm>
          <a:prstGeom prst="rect">
            <a:avLst/>
          </a:prstGeom>
          <a:noFill/>
        </p:spPr>
        <p:txBody>
          <a:bodyPr wrap="square" lIns="0" tIns="0" rIns="0" bIns="0" anchor="ctr">
            <a:normAutofit/>
          </a:bodyPr>
          <a:lstStyle/>
          <a:p>
            <a:pPr algn="ctr" marL="0" indent="0">
              <a:buNone/>
            </a:pPr>
            <a:r>
              <a:rPr lang="en-GB" sz="1600" b="1" i="0" dirty="0">
                <a:solidFill>
                  <a:srgbClr val="FFFFFF"/>
                </a:solidFill>
                <a:latin typeface="Calibri"/>
                <a:cs typeface="Calibri"/>
              </a:rPr>
              <a:t>Administrator</a:t>
            </a:r>
          </a:p>
        </p:txBody>
      </p:sp>
      <p:sp>
        <p:nvSpPr>
          <p:cNvPr id="21" name="t21"/>
          <p:cNvSpPr txBox="1"/>
          <p:nvPr/>
        </p:nvSpPr>
        <p:spPr>
          <a:xfrm>
            <a:off x="6382512" y="2724912"/>
            <a:ext cx="2322576" cy="512064"/>
          </a:xfrm>
          <a:prstGeom prst="rect">
            <a:avLst/>
          </a:prstGeom>
          <a:noFill/>
        </p:spPr>
        <p:txBody>
          <a:bodyPr wrap="square" lIns="0" tIns="0" rIns="0" bIns="0" anchor="t">
            <a:normAutofit/>
          </a:bodyPr>
          <a:lstStyle/>
          <a:p>
            <a:pPr algn="ctr" marL="0" indent="0">
              <a:buNone/>
            </a:pPr>
            <a:r>
              <a:rPr lang="en-GB" sz="2300" b="1" i="0" dirty="0">
                <a:solidFill>
                  <a:srgbClr val="FEA520"/>
                </a:solidFill>
                <a:latin typeface="Calibri"/>
                <a:cs typeface="Calibri"/>
              </a:rPr>
              <a:t>1 – 3</a:t>
            </a:r>
          </a:p>
        </p:txBody>
      </p:sp>
      <p:sp>
        <p:nvSpPr>
          <p:cNvPr id="22" name="t22"/>
          <p:cNvSpPr txBox="1"/>
          <p:nvPr/>
        </p:nvSpPr>
        <p:spPr>
          <a:xfrm>
            <a:off x="6382512" y="3218688"/>
            <a:ext cx="2322576" cy="274320"/>
          </a:xfrm>
          <a:prstGeom prst="rect">
            <a:avLst/>
          </a:prstGeom>
          <a:noFill/>
        </p:spPr>
        <p:txBody>
          <a:bodyPr wrap="square" lIns="0" tIns="0" rIns="0" bIns="0" anchor="t">
            <a:normAutofit/>
          </a:bodyPr>
          <a:lstStyle/>
          <a:p>
            <a:pPr algn="ctr" marL="0" indent="0">
              <a:buNone/>
            </a:pPr>
            <a:r>
              <a:rPr lang="en-GB" sz="1000" b="0" i="0" dirty="0">
                <a:solidFill>
                  <a:srgbClr val="5A6570"/>
                </a:solidFill>
                <a:latin typeface="Calibri"/>
                <a:cs typeface="Calibri"/>
              </a:rPr>
              <a:t>expected users</a:t>
            </a:r>
          </a:p>
        </p:txBody>
      </p:sp>
      <p:sp>
        <p:nvSpPr>
          <p:cNvPr id="23" name="t23"/>
          <p:cNvSpPr txBox="1"/>
          <p:nvPr/>
        </p:nvSpPr>
        <p:spPr>
          <a:xfrm>
            <a:off x="6382512" y="3584448"/>
            <a:ext cx="2322576" cy="292608"/>
          </a:xfrm>
          <a:prstGeom prst="rect">
            <a:avLst/>
          </a:prstGeom>
          <a:noFill/>
        </p:spPr>
        <p:txBody>
          <a:bodyPr wrap="square" lIns="0" tIns="0" rIns="0" bIns="0" anchor="t">
            <a:normAutofit/>
          </a:bodyPr>
          <a:lstStyle/>
          <a:p>
            <a:pPr algn="ctr" marL="0" indent="0">
              <a:buNone/>
            </a:pPr>
            <a:r>
              <a:rPr lang="en-GB" sz="1200" b="1" i="0" dirty="0">
                <a:solidFill>
                  <a:srgbClr val="003857"/>
                </a:solidFill>
                <a:latin typeface="Calibri"/>
                <a:cs typeface="Calibri"/>
              </a:rPr>
              <a:t>Desktop</a:t>
            </a:r>
          </a:p>
        </p:txBody>
      </p:sp>
      <p:sp>
        <p:nvSpPr>
          <p:cNvPr id="24" name="t24"/>
          <p:cNvSpPr txBox="1"/>
          <p:nvPr/>
        </p:nvSpPr>
        <p:spPr>
          <a:xfrm>
            <a:off x="6437376" y="3950208"/>
            <a:ext cx="2212848" cy="1417320"/>
          </a:xfrm>
          <a:prstGeom prst="rect">
            <a:avLst/>
          </a:prstGeom>
          <a:noFill/>
        </p:spPr>
        <p:txBody>
          <a:bodyPr wrap="square" lIns="0" tIns="0" rIns="0" bIns="0" anchor="t">
            <a:normAutofit/>
          </a:bodyPr>
          <a:lstStyle/>
          <a:p>
            <a:pPr algn="ctr" marL="0" indent="0">
              <a:buNone/>
            </a:pPr>
            <a:r>
              <a:rPr lang="en-GB" sz="1150" b="0" i="0" dirty="0">
                <a:solidFill>
                  <a:srgbClr val="5A6570"/>
                </a:solidFill>
                <a:latin typeface="Calibri"/>
                <a:cs typeface="Calibri"/>
              </a:rPr>
              <a:t>Monitors adoption and collections across all landlords</a:t>
            </a:r>
          </a:p>
        </p:txBody>
      </p:sp>
      <p:sp>
        <p:nvSpPr>
          <p:cNvPr id="25" name="s25"/>
          <p:cNvSpPr/>
          <p:nvPr/>
        </p:nvSpPr>
        <p:spPr>
          <a:xfrm>
            <a:off x="9070848" y="1627632"/>
            <a:ext cx="2615184" cy="3858768"/>
          </a:xfrm>
          <a:prstGeom prst="roundRect">
            <a:avLst>
              <a:gd name="adj" fmla="val 4195"/>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26" name="s26"/>
          <p:cNvSpPr/>
          <p:nvPr/>
        </p:nvSpPr>
        <p:spPr>
          <a:xfrm>
            <a:off x="9070848" y="1627632"/>
            <a:ext cx="2615184" cy="932688"/>
          </a:xfrm>
          <a:prstGeom prst="roundRect">
            <a:avLst>
              <a:gd name="adj" fmla="val 9803"/>
            </a:avLst>
          </a:prstGeom>
          <a:solidFill>
            <a:srgbClr val="1B4F72"/>
          </a:solidFill>
          <a:ln>
            <a:noFill/>
          </a:ln>
        </p:spPr>
        <p:txBody>
          <a:bodyPr lIns="0" tIns="0" rIns="0" bIns="0" anchor="ctr"/>
          <a:lstStyle/>
          <a:p/>
        </p:txBody>
      </p:sp>
      <p:sp>
        <p:nvSpPr>
          <p:cNvPr id="27" name="t27"/>
          <p:cNvSpPr txBox="1"/>
          <p:nvPr/>
        </p:nvSpPr>
        <p:spPr>
          <a:xfrm>
            <a:off x="9217152" y="1682496"/>
            <a:ext cx="2322576" cy="822960"/>
          </a:xfrm>
          <a:prstGeom prst="rect">
            <a:avLst/>
          </a:prstGeom>
          <a:noFill/>
        </p:spPr>
        <p:txBody>
          <a:bodyPr wrap="square" lIns="0" tIns="0" rIns="0" bIns="0" anchor="ctr">
            <a:normAutofit/>
          </a:bodyPr>
          <a:lstStyle/>
          <a:p>
            <a:pPr algn="ctr" marL="0" indent="0">
              <a:buNone/>
            </a:pPr>
            <a:r>
              <a:rPr lang="en-GB" sz="1600" b="1" i="0" dirty="0">
                <a:solidFill>
                  <a:srgbClr val="FFFFFF"/>
                </a:solidFill>
                <a:latin typeface="Calibri"/>
                <a:cs typeface="Calibri"/>
              </a:rPr>
              <a:t>Prospective</a:t>
            </a:r>
            <a:br>
              <a:rPr lang="en-GB" sz="1600" b="1" i="0" dirty="0">
                <a:solidFill>
                  <a:srgbClr val="FFFFFF"/>
                </a:solidFill>
                <a:latin typeface="Calibri"/>
                <a:cs typeface="Calibri"/>
              </a:rPr>
            </a:br>
            <a:r>
              <a:rPr lang="en-GB" sz="1600" b="1" i="0" dirty="0">
                <a:solidFill>
                  <a:srgbClr val="FFFFFF"/>
                </a:solidFill>
                <a:latin typeface="Calibri"/>
                <a:cs typeface="Calibri"/>
              </a:rPr>
              <a:t>customer</a:t>
            </a:r>
          </a:p>
        </p:txBody>
      </p:sp>
      <p:sp>
        <p:nvSpPr>
          <p:cNvPr id="28" name="t28"/>
          <p:cNvSpPr txBox="1"/>
          <p:nvPr/>
        </p:nvSpPr>
        <p:spPr>
          <a:xfrm>
            <a:off x="9217152" y="2724912"/>
            <a:ext cx="2322576" cy="512064"/>
          </a:xfrm>
          <a:prstGeom prst="rect">
            <a:avLst/>
          </a:prstGeom>
          <a:noFill/>
        </p:spPr>
        <p:txBody>
          <a:bodyPr wrap="square" lIns="0" tIns="0" rIns="0" bIns="0" anchor="t">
            <a:normAutofit/>
          </a:bodyPr>
          <a:lstStyle/>
          <a:p>
            <a:pPr algn="ctr" marL="0" indent="0">
              <a:buNone/>
            </a:pPr>
            <a:r>
              <a:rPr lang="en-GB" sz="2300" b="1" i="0" dirty="0">
                <a:solidFill>
                  <a:srgbClr val="FEA520"/>
                </a:solidFill>
                <a:latin typeface="Calibri"/>
                <a:cs typeface="Calibri"/>
              </a:rPr>
              <a:t>Unbounded</a:t>
            </a:r>
          </a:p>
        </p:txBody>
      </p:sp>
      <p:sp>
        <p:nvSpPr>
          <p:cNvPr id="29" name="t29"/>
          <p:cNvSpPr txBox="1"/>
          <p:nvPr/>
        </p:nvSpPr>
        <p:spPr>
          <a:xfrm>
            <a:off x="9217152" y="3218688"/>
            <a:ext cx="2322576" cy="274320"/>
          </a:xfrm>
          <a:prstGeom prst="rect">
            <a:avLst/>
          </a:prstGeom>
          <a:noFill/>
        </p:spPr>
        <p:txBody>
          <a:bodyPr wrap="square" lIns="0" tIns="0" rIns="0" bIns="0" anchor="t">
            <a:normAutofit/>
          </a:bodyPr>
          <a:lstStyle/>
          <a:p>
            <a:pPr algn="ctr" marL="0" indent="0">
              <a:buNone/>
            </a:pPr>
            <a:r>
              <a:rPr lang="en-GB" sz="1000" b="0" i="0" dirty="0">
                <a:solidFill>
                  <a:srgbClr val="5A6570"/>
                </a:solidFill>
                <a:latin typeface="Calibri"/>
                <a:cs typeface="Calibri"/>
              </a:rPr>
              <a:t>expected users</a:t>
            </a:r>
          </a:p>
        </p:txBody>
      </p:sp>
      <p:sp>
        <p:nvSpPr>
          <p:cNvPr id="30" name="t30"/>
          <p:cNvSpPr txBox="1"/>
          <p:nvPr/>
        </p:nvSpPr>
        <p:spPr>
          <a:xfrm>
            <a:off x="9217152" y="3584448"/>
            <a:ext cx="2322576" cy="292608"/>
          </a:xfrm>
          <a:prstGeom prst="rect">
            <a:avLst/>
          </a:prstGeom>
          <a:noFill/>
        </p:spPr>
        <p:txBody>
          <a:bodyPr wrap="square" lIns="0" tIns="0" rIns="0" bIns="0" anchor="t">
            <a:normAutofit/>
          </a:bodyPr>
          <a:lstStyle/>
          <a:p>
            <a:pPr algn="ctr" marL="0" indent="0">
              <a:buNone/>
            </a:pPr>
            <a:r>
              <a:rPr lang="en-GB" sz="1200" b="1" i="0" dirty="0">
                <a:solidFill>
                  <a:srgbClr val="003857"/>
                </a:solidFill>
                <a:latin typeface="Calibri"/>
                <a:cs typeface="Calibri"/>
              </a:rPr>
              <a:t>Mobile or desktop</a:t>
            </a:r>
          </a:p>
        </p:txBody>
      </p:sp>
      <p:sp>
        <p:nvSpPr>
          <p:cNvPr id="31" name="t31"/>
          <p:cNvSpPr txBox="1"/>
          <p:nvPr/>
        </p:nvSpPr>
        <p:spPr>
          <a:xfrm>
            <a:off x="9272016" y="3950208"/>
            <a:ext cx="2212848" cy="1417320"/>
          </a:xfrm>
          <a:prstGeom prst="rect">
            <a:avLst/>
          </a:prstGeom>
          <a:noFill/>
        </p:spPr>
        <p:txBody>
          <a:bodyPr wrap="square" lIns="0" tIns="0" rIns="0" bIns="0" anchor="t">
            <a:normAutofit/>
          </a:bodyPr>
          <a:lstStyle/>
          <a:p>
            <a:pPr algn="ctr" marL="0" indent="0">
              <a:buNone/>
            </a:pPr>
            <a:r>
              <a:rPr lang="en-GB" sz="1150" b="0" i="0" dirty="0">
                <a:solidFill>
                  <a:srgbClr val="5A6570"/>
                </a:solidFill>
                <a:latin typeface="Calibri"/>
                <a:cs typeface="Calibri"/>
              </a:rPr>
              <a:t>Understands what the product does and what it costs</a:t>
            </a:r>
          </a:p>
        </p:txBody>
      </p:sp>
      <p:sp>
        <p:nvSpPr>
          <p:cNvPr id="32" name="t32"/>
          <p:cNvSpPr txBox="1"/>
          <p:nvPr/>
        </p:nvSpPr>
        <p:spPr>
          <a:xfrm>
            <a:off x="566928" y="5687568"/>
            <a:ext cx="11057839" cy="411480"/>
          </a:xfrm>
          <a:prstGeom prst="rect">
            <a:avLst/>
          </a:prstGeom>
          <a:noFill/>
        </p:spPr>
        <p:txBody>
          <a:bodyPr wrap="square" lIns="0" tIns="0" rIns="0" bIns="0" anchor="t">
            <a:normAutofit/>
          </a:bodyPr>
          <a:lstStyle/>
          <a:p>
            <a:pPr algn="l" marL="0" indent="0">
              <a:buNone/>
            </a:pPr>
            <a:r>
              <a:rPr lang="en-GB" sz="1300" b="0" i="1" dirty="0">
                <a:solidFill>
                  <a:srgbClr val="5A6570"/>
                </a:solidFill>
                <a:latin typeface="Calibri"/>
                <a:cs typeface="Calibri"/>
              </a:rPr>
              <a:t>The tenant class is the largest and mostly on a phone — which is why the mobile layout requirements are the strictest in the document.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2"/>
          <p:cNvSpPr txBox="1"/>
          <p:nvPr/>
        </p:nvSpPr>
        <p:spPr>
          <a:xfrm>
            <a:off x="566928" y="365760"/>
            <a:ext cx="11057839" cy="292608"/>
          </a:xfrm>
          <a:prstGeom prst="rect">
            <a:avLst/>
          </a:prstGeom>
          <a:noFill/>
        </p:spPr>
        <p:txBody>
          <a:bodyPr wrap="square" lIns="0" tIns="0" rIns="0" bIns="0" anchor="t">
            <a:normAutofit/>
          </a:bodyPr>
          <a:lstStyle/>
          <a:p>
            <a:pPr algn="l" marL="0" indent="0">
              <a:buNone/>
            </a:pPr>
            <a:r>
              <a:rPr lang="en-GB" sz="1200" b="1" i="0" spc="200" dirty="0">
                <a:solidFill>
                  <a:srgbClr val="FEA520"/>
                </a:solidFill>
                <a:latin typeface="Calibri"/>
                <a:cs typeface="Calibri"/>
              </a:rPr>
              <a:t>SECTION 3</a:t>
            </a:r>
          </a:p>
        </p:txBody>
      </p:sp>
      <p:sp>
        <p:nvSpPr>
          <p:cNvPr id="3" name="t3"/>
          <p:cNvSpPr txBox="1"/>
          <p:nvPr/>
        </p:nvSpPr>
        <p:spPr>
          <a:xfrm>
            <a:off x="566928" y="658368"/>
            <a:ext cx="11057839" cy="694944"/>
          </a:xfrm>
          <a:prstGeom prst="rect">
            <a:avLst/>
          </a:prstGeom>
          <a:noFill/>
        </p:spPr>
        <p:txBody>
          <a:bodyPr wrap="square" lIns="0" tIns="0" rIns="0" bIns="0" anchor="t">
            <a:normAutofit/>
          </a:bodyPr>
          <a:lstStyle/>
          <a:p>
            <a:pPr algn="l" marL="0" indent="0">
              <a:buNone/>
            </a:pPr>
            <a:r>
              <a:rPr lang="en-GB" sz="3200" b="1" i="0" dirty="0">
                <a:solidFill>
                  <a:srgbClr val="003857"/>
                </a:solidFill>
                <a:latin typeface="Calibri"/>
                <a:cs typeface="Calibri"/>
              </a:rPr>
              <a:t>What the specification contains</a:t>
            </a:r>
          </a:p>
        </p:txBody>
      </p:sp>
      <p:sp>
        <p:nvSpPr>
          <p:cNvPr id="4" name="s4"/>
          <p:cNvSpPr/>
          <p:nvPr/>
        </p:nvSpPr>
        <p:spPr>
          <a:xfrm>
            <a:off x="566928" y="1682496"/>
            <a:ext cx="2615184" cy="2395728"/>
          </a:xfrm>
          <a:prstGeom prst="roundRect">
            <a:avLst>
              <a:gd name="adj" fmla="val 3816"/>
            </a:avLst>
          </a:prstGeom>
          <a:solidFill>
            <a:srgbClr val="003857"/>
          </a:solidFill>
          <a:ln>
            <a:noFill/>
          </a:ln>
        </p:spPr>
        <p:txBody>
          <a:bodyPr lIns="0" tIns="0" rIns="0" bIns="0" anchor="ctr"/>
          <a:lstStyle/>
          <a:p/>
        </p:txBody>
      </p:sp>
      <p:sp>
        <p:nvSpPr>
          <p:cNvPr id="5" name="t5"/>
          <p:cNvSpPr txBox="1"/>
          <p:nvPr/>
        </p:nvSpPr>
        <p:spPr>
          <a:xfrm>
            <a:off x="566928" y="1847088"/>
            <a:ext cx="2615184" cy="960120"/>
          </a:xfrm>
          <a:prstGeom prst="rect">
            <a:avLst/>
          </a:prstGeom>
          <a:noFill/>
        </p:spPr>
        <p:txBody>
          <a:bodyPr wrap="square" lIns="0" tIns="0" rIns="0" bIns="0" anchor="t">
            <a:normAutofit/>
          </a:bodyPr>
          <a:lstStyle/>
          <a:p>
            <a:pPr algn="ctr" marL="0" indent="0">
              <a:buNone/>
            </a:pPr>
            <a:r>
              <a:rPr lang="en-GB" sz="5600" b="1" i="0" dirty="0">
                <a:solidFill>
                  <a:srgbClr val="FEA520"/>
                </a:solidFill>
                <a:latin typeface="Calibri"/>
                <a:cs typeface="Calibri"/>
              </a:rPr>
              <a:t>67</a:t>
            </a:r>
          </a:p>
        </p:txBody>
      </p:sp>
      <p:sp>
        <p:nvSpPr>
          <p:cNvPr id="6" name="t6"/>
          <p:cNvSpPr txBox="1"/>
          <p:nvPr/>
        </p:nvSpPr>
        <p:spPr>
          <a:xfrm>
            <a:off x="713232" y="2834640"/>
            <a:ext cx="2322576" cy="676656"/>
          </a:xfrm>
          <a:prstGeom prst="rect">
            <a:avLst/>
          </a:prstGeom>
          <a:noFill/>
        </p:spPr>
        <p:txBody>
          <a:bodyPr wrap="square" lIns="0" tIns="0" rIns="0" bIns="0" anchor="t">
            <a:normAutofit/>
          </a:bodyPr>
          <a:lstStyle/>
          <a:p>
            <a:pPr algn="ctr" marL="0" indent="0">
              <a:buNone/>
            </a:pPr>
            <a:r>
              <a:rPr lang="en-GB" sz="1350" b="1" i="0" dirty="0">
                <a:solidFill>
                  <a:srgbClr val="FFFFFF"/>
                </a:solidFill>
                <a:latin typeface="Calibri"/>
                <a:cs typeface="Calibri"/>
              </a:rPr>
              <a:t>Functional</a:t>
            </a:r>
            <a:br>
              <a:rPr lang="en-GB" sz="1350" b="1" i="0" dirty="0">
                <a:solidFill>
                  <a:srgbClr val="FFFFFF"/>
                </a:solidFill>
                <a:latin typeface="Calibri"/>
                <a:cs typeface="Calibri"/>
              </a:rPr>
            </a:br>
            <a:r>
              <a:rPr lang="en-GB" sz="1350" b="1" i="0" dirty="0">
                <a:solidFill>
                  <a:srgbClr val="FFFFFF"/>
                </a:solidFill>
                <a:latin typeface="Calibri"/>
                <a:cs typeface="Calibri"/>
              </a:rPr>
              <a:t>requirements</a:t>
            </a:r>
          </a:p>
        </p:txBody>
      </p:sp>
      <p:sp>
        <p:nvSpPr>
          <p:cNvPr id="7" name="t7"/>
          <p:cNvSpPr txBox="1"/>
          <p:nvPr/>
        </p:nvSpPr>
        <p:spPr>
          <a:xfrm>
            <a:off x="713232" y="3547872"/>
            <a:ext cx="2322576" cy="310896"/>
          </a:xfrm>
          <a:prstGeom prst="rect">
            <a:avLst/>
          </a:prstGeom>
          <a:noFill/>
        </p:spPr>
        <p:txBody>
          <a:bodyPr wrap="square" lIns="0" tIns="0" rIns="0" bIns="0" anchor="t">
            <a:normAutofit/>
          </a:bodyPr>
          <a:lstStyle/>
          <a:p>
            <a:pPr algn="ctr" marL="0" indent="0">
              <a:buNone/>
            </a:pPr>
            <a:r>
              <a:rPr lang="en-GB" sz="1050" b="0" i="0" dirty="0">
                <a:solidFill>
                  <a:srgbClr val="C8D8E4"/>
                </a:solidFill>
                <a:latin typeface="Calibri"/>
                <a:cs typeface="Calibri"/>
              </a:rPr>
              <a:t>FR-01 … FR-67</a:t>
            </a:r>
          </a:p>
        </p:txBody>
      </p:sp>
      <p:sp>
        <p:nvSpPr>
          <p:cNvPr id="8" name="s8"/>
          <p:cNvSpPr/>
          <p:nvPr/>
        </p:nvSpPr>
        <p:spPr>
          <a:xfrm>
            <a:off x="3401568" y="1682496"/>
            <a:ext cx="2615184" cy="2395728"/>
          </a:xfrm>
          <a:prstGeom prst="roundRect">
            <a:avLst>
              <a:gd name="adj" fmla="val 3816"/>
            </a:avLst>
          </a:prstGeom>
          <a:solidFill>
            <a:srgbClr val="1B4F72"/>
          </a:solidFill>
          <a:ln>
            <a:noFill/>
          </a:ln>
        </p:spPr>
        <p:txBody>
          <a:bodyPr lIns="0" tIns="0" rIns="0" bIns="0" anchor="ctr"/>
          <a:lstStyle/>
          <a:p/>
        </p:txBody>
      </p:sp>
      <p:sp>
        <p:nvSpPr>
          <p:cNvPr id="9" name="t9"/>
          <p:cNvSpPr txBox="1"/>
          <p:nvPr/>
        </p:nvSpPr>
        <p:spPr>
          <a:xfrm>
            <a:off x="3401568" y="1847088"/>
            <a:ext cx="2615184" cy="960120"/>
          </a:xfrm>
          <a:prstGeom prst="rect">
            <a:avLst/>
          </a:prstGeom>
          <a:noFill/>
        </p:spPr>
        <p:txBody>
          <a:bodyPr wrap="square" lIns="0" tIns="0" rIns="0" bIns="0" anchor="t">
            <a:normAutofit/>
          </a:bodyPr>
          <a:lstStyle/>
          <a:p>
            <a:pPr algn="ctr" marL="0" indent="0">
              <a:buNone/>
            </a:pPr>
            <a:r>
              <a:rPr lang="en-GB" sz="5600" b="1" i="0" dirty="0">
                <a:solidFill>
                  <a:srgbClr val="FEA520"/>
                </a:solidFill>
                <a:latin typeface="Calibri"/>
                <a:cs typeface="Calibri"/>
              </a:rPr>
              <a:t>46</a:t>
            </a:r>
          </a:p>
        </p:txBody>
      </p:sp>
      <p:sp>
        <p:nvSpPr>
          <p:cNvPr id="10" name="t10"/>
          <p:cNvSpPr txBox="1"/>
          <p:nvPr/>
        </p:nvSpPr>
        <p:spPr>
          <a:xfrm>
            <a:off x="3547872" y="2834640"/>
            <a:ext cx="2322576" cy="676656"/>
          </a:xfrm>
          <a:prstGeom prst="rect">
            <a:avLst/>
          </a:prstGeom>
          <a:noFill/>
        </p:spPr>
        <p:txBody>
          <a:bodyPr wrap="square" lIns="0" tIns="0" rIns="0" bIns="0" anchor="t">
            <a:normAutofit/>
          </a:bodyPr>
          <a:lstStyle/>
          <a:p>
            <a:pPr algn="ctr" marL="0" indent="0">
              <a:buNone/>
            </a:pPr>
            <a:r>
              <a:rPr lang="en-GB" sz="1350" b="1" i="0" dirty="0">
                <a:solidFill>
                  <a:srgbClr val="FFFFFF"/>
                </a:solidFill>
                <a:latin typeface="Calibri"/>
                <a:cs typeface="Calibri"/>
              </a:rPr>
              <a:t>Non-functional</a:t>
            </a:r>
            <a:br>
              <a:rPr lang="en-GB" sz="1350" b="1" i="0" dirty="0">
                <a:solidFill>
                  <a:srgbClr val="FFFFFF"/>
                </a:solidFill>
                <a:latin typeface="Calibri"/>
                <a:cs typeface="Calibri"/>
              </a:rPr>
            </a:br>
            <a:r>
              <a:rPr lang="en-GB" sz="1350" b="1" i="0" dirty="0">
                <a:solidFill>
                  <a:srgbClr val="FFFFFF"/>
                </a:solidFill>
                <a:latin typeface="Calibri"/>
                <a:cs typeface="Calibri"/>
              </a:rPr>
              <a:t>requirements</a:t>
            </a:r>
          </a:p>
        </p:txBody>
      </p:sp>
      <p:sp>
        <p:nvSpPr>
          <p:cNvPr id="11" name="t11"/>
          <p:cNvSpPr txBox="1"/>
          <p:nvPr/>
        </p:nvSpPr>
        <p:spPr>
          <a:xfrm>
            <a:off x="3547872" y="3547872"/>
            <a:ext cx="2322576" cy="310896"/>
          </a:xfrm>
          <a:prstGeom prst="rect">
            <a:avLst/>
          </a:prstGeom>
          <a:noFill/>
        </p:spPr>
        <p:txBody>
          <a:bodyPr wrap="square" lIns="0" tIns="0" rIns="0" bIns="0" anchor="t">
            <a:normAutofit/>
          </a:bodyPr>
          <a:lstStyle/>
          <a:p>
            <a:pPr algn="ctr" marL="0" indent="0">
              <a:buNone/>
            </a:pPr>
            <a:r>
              <a:rPr lang="en-GB" sz="1050" b="0" i="0" dirty="0">
                <a:solidFill>
                  <a:srgbClr val="C8D8E4"/>
                </a:solidFill>
                <a:latin typeface="Calibri"/>
                <a:cs typeface="Calibri"/>
              </a:rPr>
              <a:t>NFR-01 … NFR-46</a:t>
            </a:r>
          </a:p>
        </p:txBody>
      </p:sp>
      <p:sp>
        <p:nvSpPr>
          <p:cNvPr id="12" name="s12"/>
          <p:cNvSpPr/>
          <p:nvPr/>
        </p:nvSpPr>
        <p:spPr>
          <a:xfrm>
            <a:off x="6236208" y="1682496"/>
            <a:ext cx="2615184" cy="2395728"/>
          </a:xfrm>
          <a:prstGeom prst="roundRect">
            <a:avLst>
              <a:gd name="adj" fmla="val 3816"/>
            </a:avLst>
          </a:prstGeom>
          <a:solidFill>
            <a:srgbClr val="003857"/>
          </a:solidFill>
          <a:ln>
            <a:noFill/>
          </a:ln>
        </p:spPr>
        <p:txBody>
          <a:bodyPr lIns="0" tIns="0" rIns="0" bIns="0" anchor="ctr"/>
          <a:lstStyle/>
          <a:p/>
        </p:txBody>
      </p:sp>
      <p:sp>
        <p:nvSpPr>
          <p:cNvPr id="13" name="t13"/>
          <p:cNvSpPr txBox="1"/>
          <p:nvPr/>
        </p:nvSpPr>
        <p:spPr>
          <a:xfrm>
            <a:off x="6236208" y="1847088"/>
            <a:ext cx="2615184" cy="960120"/>
          </a:xfrm>
          <a:prstGeom prst="rect">
            <a:avLst/>
          </a:prstGeom>
          <a:noFill/>
        </p:spPr>
        <p:txBody>
          <a:bodyPr wrap="square" lIns="0" tIns="0" rIns="0" bIns="0" anchor="t">
            <a:normAutofit/>
          </a:bodyPr>
          <a:lstStyle/>
          <a:p>
            <a:pPr algn="ctr" marL="0" indent="0">
              <a:buNone/>
            </a:pPr>
            <a:r>
              <a:rPr lang="en-GB" sz="5600" b="1" i="0" dirty="0">
                <a:solidFill>
                  <a:srgbClr val="FEA520"/>
                </a:solidFill>
                <a:latin typeface="Calibri"/>
                <a:cs typeface="Calibri"/>
              </a:rPr>
              <a:t>24</a:t>
            </a:r>
          </a:p>
        </p:txBody>
      </p:sp>
      <p:sp>
        <p:nvSpPr>
          <p:cNvPr id="14" name="t14"/>
          <p:cNvSpPr txBox="1"/>
          <p:nvPr/>
        </p:nvSpPr>
        <p:spPr>
          <a:xfrm>
            <a:off x="6382512" y="2834640"/>
            <a:ext cx="2322576" cy="676656"/>
          </a:xfrm>
          <a:prstGeom prst="rect">
            <a:avLst/>
          </a:prstGeom>
          <a:noFill/>
        </p:spPr>
        <p:txBody>
          <a:bodyPr wrap="square" lIns="0" tIns="0" rIns="0" bIns="0" anchor="t">
            <a:normAutofit/>
          </a:bodyPr>
          <a:lstStyle/>
          <a:p>
            <a:pPr algn="ctr" marL="0" indent="0">
              <a:buNone/>
            </a:pPr>
            <a:r>
              <a:rPr lang="en-GB" sz="1350" b="1" i="0" dirty="0">
                <a:solidFill>
                  <a:srgbClr val="FFFFFF"/>
                </a:solidFill>
                <a:latin typeface="Calibri"/>
                <a:cs typeface="Calibri"/>
              </a:rPr>
              <a:t>External interface</a:t>
            </a:r>
            <a:br>
              <a:rPr lang="en-GB" sz="1350" b="1" i="0" dirty="0">
                <a:solidFill>
                  <a:srgbClr val="FFFFFF"/>
                </a:solidFill>
                <a:latin typeface="Calibri"/>
                <a:cs typeface="Calibri"/>
              </a:rPr>
            </a:br>
            <a:r>
              <a:rPr lang="en-GB" sz="1350" b="1" i="0" dirty="0">
                <a:solidFill>
                  <a:srgbClr val="FFFFFF"/>
                </a:solidFill>
                <a:latin typeface="Calibri"/>
                <a:cs typeface="Calibri"/>
              </a:rPr>
              <a:t>requirements</a:t>
            </a:r>
          </a:p>
        </p:txBody>
      </p:sp>
      <p:sp>
        <p:nvSpPr>
          <p:cNvPr id="15" name="t15"/>
          <p:cNvSpPr txBox="1"/>
          <p:nvPr/>
        </p:nvSpPr>
        <p:spPr>
          <a:xfrm>
            <a:off x="6382512" y="3547872"/>
            <a:ext cx="2322576" cy="310896"/>
          </a:xfrm>
          <a:prstGeom prst="rect">
            <a:avLst/>
          </a:prstGeom>
          <a:noFill/>
        </p:spPr>
        <p:txBody>
          <a:bodyPr wrap="square" lIns="0" tIns="0" rIns="0" bIns="0" anchor="t">
            <a:normAutofit/>
          </a:bodyPr>
          <a:lstStyle/>
          <a:p>
            <a:pPr algn="ctr" marL="0" indent="0">
              <a:buNone/>
            </a:pPr>
            <a:r>
              <a:rPr lang="en-GB" sz="1050" b="0" i="0" dirty="0">
                <a:solidFill>
                  <a:srgbClr val="C8D8E4"/>
                </a:solidFill>
                <a:latin typeface="Calibri"/>
                <a:cs typeface="Calibri"/>
              </a:rPr>
              <a:t>UI · HW · SW · CI</a:t>
            </a:r>
          </a:p>
        </p:txBody>
      </p:sp>
      <p:sp>
        <p:nvSpPr>
          <p:cNvPr id="16" name="s16"/>
          <p:cNvSpPr/>
          <p:nvPr/>
        </p:nvSpPr>
        <p:spPr>
          <a:xfrm>
            <a:off x="9070848" y="1682496"/>
            <a:ext cx="2615184" cy="2395728"/>
          </a:xfrm>
          <a:prstGeom prst="roundRect">
            <a:avLst>
              <a:gd name="adj" fmla="val 3816"/>
            </a:avLst>
          </a:prstGeom>
          <a:solidFill>
            <a:srgbClr val="1B4F72"/>
          </a:solidFill>
          <a:ln>
            <a:noFill/>
          </a:ln>
        </p:spPr>
        <p:txBody>
          <a:bodyPr lIns="0" tIns="0" rIns="0" bIns="0" anchor="ctr"/>
          <a:lstStyle/>
          <a:p/>
        </p:txBody>
      </p:sp>
      <p:sp>
        <p:nvSpPr>
          <p:cNvPr id="17" name="t17"/>
          <p:cNvSpPr txBox="1"/>
          <p:nvPr/>
        </p:nvSpPr>
        <p:spPr>
          <a:xfrm>
            <a:off x="9070848" y="1847088"/>
            <a:ext cx="2615184" cy="960120"/>
          </a:xfrm>
          <a:prstGeom prst="rect">
            <a:avLst/>
          </a:prstGeom>
          <a:noFill/>
        </p:spPr>
        <p:txBody>
          <a:bodyPr wrap="square" lIns="0" tIns="0" rIns="0" bIns="0" anchor="t">
            <a:normAutofit/>
          </a:bodyPr>
          <a:lstStyle/>
          <a:p>
            <a:pPr algn="ctr" marL="0" indent="0">
              <a:buNone/>
            </a:pPr>
            <a:r>
              <a:rPr lang="en-GB" sz="5600" b="1" i="0" dirty="0">
                <a:solidFill>
                  <a:srgbClr val="FEA520"/>
                </a:solidFill>
                <a:latin typeface="Calibri"/>
                <a:cs typeface="Calibri"/>
              </a:rPr>
              <a:t>18</a:t>
            </a:r>
          </a:p>
        </p:txBody>
      </p:sp>
      <p:sp>
        <p:nvSpPr>
          <p:cNvPr id="18" name="t18"/>
          <p:cNvSpPr txBox="1"/>
          <p:nvPr/>
        </p:nvSpPr>
        <p:spPr>
          <a:xfrm>
            <a:off x="9217152" y="2834640"/>
            <a:ext cx="2322576" cy="676656"/>
          </a:xfrm>
          <a:prstGeom prst="rect">
            <a:avLst/>
          </a:prstGeom>
          <a:noFill/>
        </p:spPr>
        <p:txBody>
          <a:bodyPr wrap="square" lIns="0" tIns="0" rIns="0" bIns="0" anchor="t">
            <a:normAutofit/>
          </a:bodyPr>
          <a:lstStyle/>
          <a:p>
            <a:pPr algn="ctr" marL="0" indent="0">
              <a:buNone/>
            </a:pPr>
            <a:r>
              <a:rPr lang="en-GB" sz="1350" b="1" i="0" dirty="0">
                <a:solidFill>
                  <a:srgbClr val="FFFFFF"/>
                </a:solidFill>
                <a:latin typeface="Calibri"/>
                <a:cs typeface="Calibri"/>
              </a:rPr>
              <a:t>Use cases</a:t>
            </a:r>
          </a:p>
        </p:txBody>
      </p:sp>
      <p:sp>
        <p:nvSpPr>
          <p:cNvPr id="19" name="t19"/>
          <p:cNvSpPr txBox="1"/>
          <p:nvPr/>
        </p:nvSpPr>
        <p:spPr>
          <a:xfrm>
            <a:off x="9217152" y="3547872"/>
            <a:ext cx="2322576" cy="310896"/>
          </a:xfrm>
          <a:prstGeom prst="rect">
            <a:avLst/>
          </a:prstGeom>
          <a:noFill/>
        </p:spPr>
        <p:txBody>
          <a:bodyPr wrap="square" lIns="0" tIns="0" rIns="0" bIns="0" anchor="t">
            <a:normAutofit/>
          </a:bodyPr>
          <a:lstStyle/>
          <a:p>
            <a:pPr algn="ctr" marL="0" indent="0">
              <a:buNone/>
            </a:pPr>
            <a:r>
              <a:rPr lang="en-GB" sz="1050" b="0" i="0" dirty="0">
                <a:solidFill>
                  <a:srgbClr val="C8D8E4"/>
                </a:solidFill>
                <a:latin typeface="Calibri"/>
                <a:cs typeface="Calibri"/>
              </a:rPr>
              <a:t>12 specified in full</a:t>
            </a:r>
          </a:p>
        </p:txBody>
      </p:sp>
      <p:sp>
        <p:nvSpPr>
          <p:cNvPr id="20" name="s20"/>
          <p:cNvSpPr/>
          <p:nvPr/>
        </p:nvSpPr>
        <p:spPr>
          <a:xfrm>
            <a:off x="566928" y="4315968"/>
            <a:ext cx="11057839" cy="713232"/>
          </a:xfrm>
          <a:prstGeom prst="roundRect">
            <a:avLst>
              <a:gd name="adj" fmla="val 11538"/>
            </a:avLst>
          </a:prstGeom>
          <a:solidFill>
            <a:srgbClr val="F1F4F7"/>
          </a:solidFill>
          <a:ln w="12700">
            <a:solidFill>
              <a:srgbClr val="DCE3E9"/>
            </a:solidFill>
          </a:ln>
        </p:spPr>
        <p:txBody>
          <a:bodyPr lIns="0" tIns="0" rIns="0" bIns="0" anchor="ctr"/>
          <a:lstStyle/>
          <a:p/>
        </p:txBody>
      </p:sp>
      <p:sp>
        <p:nvSpPr>
          <p:cNvPr id="21" name="t21"/>
          <p:cNvSpPr txBox="1"/>
          <p:nvPr/>
        </p:nvSpPr>
        <p:spPr>
          <a:xfrm>
            <a:off x="822960" y="4315968"/>
            <a:ext cx="3566160" cy="713232"/>
          </a:xfrm>
          <a:prstGeom prst="rect">
            <a:avLst/>
          </a:prstGeom>
          <a:noFill/>
        </p:spPr>
        <p:txBody>
          <a:bodyPr wrap="square" lIns="0" tIns="0" rIns="0" bIns="0" anchor="ctr">
            <a:normAutofit/>
          </a:bodyPr>
          <a:lstStyle/>
          <a:p>
            <a:pPr algn="l" marL="0" indent="0">
              <a:buNone/>
            </a:pPr>
            <a:r>
              <a:rPr lang="en-GB" sz="1400" b="1" i="0" dirty="0">
                <a:solidFill>
                  <a:srgbClr val="003857"/>
                </a:solidFill>
                <a:latin typeface="Calibri"/>
                <a:cs typeface="Calibri"/>
              </a:rPr>
              <a:t>Seven quality attributes</a:t>
            </a:r>
          </a:p>
        </p:txBody>
      </p:sp>
      <p:sp>
        <p:nvSpPr>
          <p:cNvPr id="22" name="t22"/>
          <p:cNvSpPr txBox="1"/>
          <p:nvPr/>
        </p:nvSpPr>
        <p:spPr>
          <a:xfrm>
            <a:off x="4498848" y="4315968"/>
            <a:ext cx="6851599" cy="713232"/>
          </a:xfrm>
          <a:prstGeom prst="rect">
            <a:avLst/>
          </a:prstGeom>
          <a:noFill/>
        </p:spPr>
        <p:txBody>
          <a:bodyPr wrap="square" lIns="0" tIns="0" rIns="0" bIns="0" anchor="ctr">
            <a:normAutofit/>
          </a:bodyPr>
          <a:lstStyle/>
          <a:p>
            <a:pPr algn="l" marL="0" indent="0">
              <a:buNone/>
            </a:pPr>
            <a:r>
              <a:rPr lang="en-GB" sz="1200" b="0" i="0" dirty="0">
                <a:solidFill>
                  <a:srgbClr val="5A6570"/>
                </a:solidFill>
                <a:latin typeface="Calibri"/>
                <a:cs typeface="Calibri"/>
              </a:rPr>
              <a:t>Performance · security · usability · reliability and availability · maintainability · scalability · compatibility</a:t>
            </a:r>
          </a:p>
        </p:txBody>
      </p:sp>
      <p:sp>
        <p:nvSpPr>
          <p:cNvPr id="23" name="s23"/>
          <p:cNvSpPr/>
          <p:nvPr/>
        </p:nvSpPr>
        <p:spPr>
          <a:xfrm>
            <a:off x="566928" y="5157216"/>
            <a:ext cx="11057839" cy="713232"/>
          </a:xfrm>
          <a:prstGeom prst="roundRect">
            <a:avLst>
              <a:gd name="adj" fmla="val 11538"/>
            </a:avLst>
          </a:prstGeom>
          <a:solidFill>
            <a:srgbClr val="F1F4F7"/>
          </a:solidFill>
          <a:ln w="12700">
            <a:solidFill>
              <a:srgbClr val="DCE3E9"/>
            </a:solidFill>
          </a:ln>
        </p:spPr>
        <p:txBody>
          <a:bodyPr lIns="0" tIns="0" rIns="0" bIns="0" anchor="ctr"/>
          <a:lstStyle/>
          <a:p/>
        </p:txBody>
      </p:sp>
      <p:sp>
        <p:nvSpPr>
          <p:cNvPr id="24" name="t24"/>
          <p:cNvSpPr txBox="1"/>
          <p:nvPr/>
        </p:nvSpPr>
        <p:spPr>
          <a:xfrm>
            <a:off x="822960" y="5157216"/>
            <a:ext cx="3566160" cy="713232"/>
          </a:xfrm>
          <a:prstGeom prst="rect">
            <a:avLst/>
          </a:prstGeom>
          <a:noFill/>
        </p:spPr>
        <p:txBody>
          <a:bodyPr wrap="square" lIns="0" tIns="0" rIns="0" bIns="0" anchor="ctr">
            <a:normAutofit/>
          </a:bodyPr>
          <a:lstStyle/>
          <a:p>
            <a:pPr algn="l" marL="0" indent="0">
              <a:buNone/>
            </a:pPr>
            <a:r>
              <a:rPr lang="en-GB" sz="1400" b="1" i="0" dirty="0">
                <a:solidFill>
                  <a:srgbClr val="003857"/>
                </a:solidFill>
                <a:latin typeface="Calibri"/>
                <a:cs typeface="Calibri"/>
              </a:rPr>
              <a:t>Verified against the build</a:t>
            </a:r>
          </a:p>
        </p:txBody>
      </p:sp>
      <p:sp>
        <p:nvSpPr>
          <p:cNvPr id="25" name="t25"/>
          <p:cNvSpPr txBox="1"/>
          <p:nvPr/>
        </p:nvSpPr>
        <p:spPr>
          <a:xfrm>
            <a:off x="4498848" y="5157216"/>
            <a:ext cx="6851599" cy="713232"/>
          </a:xfrm>
          <a:prstGeom prst="rect">
            <a:avLst/>
          </a:prstGeom>
          <a:noFill/>
        </p:spPr>
        <p:txBody>
          <a:bodyPr wrap="square" lIns="0" tIns="0" rIns="0" bIns="0" anchor="ctr">
            <a:normAutofit/>
          </a:bodyPr>
          <a:lstStyle/>
          <a:p>
            <a:pPr algn="l" marL="0" indent="0">
              <a:buNone/>
            </a:pPr>
            <a:r>
              <a:rPr lang="en-GB" sz="1200" b="0" i="0" dirty="0">
                <a:solidFill>
                  <a:srgbClr val="5A6570"/>
                </a:solidFill>
                <a:latin typeface="Calibri"/>
                <a:cs typeface="Calibri"/>
              </a:rPr>
              <a:t>Validation limits, enumerated values and scheduled behaviour taken from the implemented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2"/>
          <p:cNvSpPr txBox="1"/>
          <p:nvPr/>
        </p:nvSpPr>
        <p:spPr>
          <a:xfrm>
            <a:off x="566928" y="365760"/>
            <a:ext cx="11057839" cy="292608"/>
          </a:xfrm>
          <a:prstGeom prst="rect">
            <a:avLst/>
          </a:prstGeom>
          <a:noFill/>
        </p:spPr>
        <p:txBody>
          <a:bodyPr wrap="square" lIns="0" tIns="0" rIns="0" bIns="0" anchor="t">
            <a:normAutofit/>
          </a:bodyPr>
          <a:lstStyle/>
          <a:p>
            <a:pPr algn="l" marL="0" indent="0">
              <a:buNone/>
            </a:pPr>
            <a:r>
              <a:rPr lang="en-GB" sz="1200" b="1" i="0" spc="200" dirty="0">
                <a:solidFill>
                  <a:srgbClr val="FEA520"/>
                </a:solidFill>
                <a:latin typeface="Calibri"/>
                <a:cs typeface="Calibri"/>
              </a:rPr>
              <a:t>CRITICAL REQUIREMENT  ·  FR-27 … FR-30</a:t>
            </a:r>
          </a:p>
        </p:txBody>
      </p:sp>
      <p:sp>
        <p:nvSpPr>
          <p:cNvPr id="3" name="t3"/>
          <p:cNvSpPr txBox="1"/>
          <p:nvPr/>
        </p:nvSpPr>
        <p:spPr>
          <a:xfrm>
            <a:off x="566928" y="658368"/>
            <a:ext cx="11057839" cy="694944"/>
          </a:xfrm>
          <a:prstGeom prst="rect">
            <a:avLst/>
          </a:prstGeom>
          <a:noFill/>
        </p:spPr>
        <p:txBody>
          <a:bodyPr wrap="square" lIns="0" tIns="0" rIns="0" bIns="0" anchor="t">
            <a:normAutofit/>
          </a:bodyPr>
          <a:lstStyle/>
          <a:p>
            <a:pPr algn="l" marL="0" indent="0">
              <a:buNone/>
            </a:pPr>
            <a:r>
              <a:rPr lang="en-GB" sz="3200" b="1" i="0" dirty="0">
                <a:solidFill>
                  <a:srgbClr val="003857"/>
                </a:solidFill>
                <a:latin typeface="Calibri"/>
                <a:cs typeface="Calibri"/>
              </a:rPr>
              <a:t>The automated rent cycle</a:t>
            </a:r>
          </a:p>
        </p:txBody>
      </p:sp>
      <p:sp>
        <p:nvSpPr>
          <p:cNvPr id="4" name="t4"/>
          <p:cNvSpPr txBox="1"/>
          <p:nvPr/>
        </p:nvSpPr>
        <p:spPr>
          <a:xfrm>
            <a:off x="566928" y="1371600"/>
            <a:ext cx="11057839" cy="365760"/>
          </a:xfrm>
          <a:prstGeom prst="rect">
            <a:avLst/>
          </a:prstGeom>
          <a:noFill/>
        </p:spPr>
        <p:txBody>
          <a:bodyPr wrap="square" lIns="0" tIns="0" rIns="0" bIns="0" anchor="t">
            <a:normAutofit/>
          </a:bodyPr>
          <a:lstStyle/>
          <a:p>
            <a:pPr algn="l" marL="0" indent="0">
              <a:buNone/>
            </a:pPr>
            <a:r>
              <a:rPr lang="en-GB" sz="1450" b="0" i="0" dirty="0">
                <a:solidFill>
                  <a:srgbClr val="5A6570"/>
                </a:solidFill>
                <a:latin typeface="Calibri"/>
                <a:cs typeface="Calibri"/>
              </a:rPr>
              <a:t>The heart of the system: rent is raised without anyone doing anything.</a:t>
            </a:r>
          </a:p>
        </p:txBody>
      </p:sp>
      <p:sp>
        <p:nvSpPr>
          <p:cNvPr id="5" name="s5"/>
          <p:cNvSpPr/>
          <p:nvPr/>
        </p:nvSpPr>
        <p:spPr>
          <a:xfrm>
            <a:off x="566928" y="1901952"/>
            <a:ext cx="2487168" cy="2542032"/>
          </a:xfrm>
          <a:prstGeom prst="roundRect">
            <a:avLst>
              <a:gd name="adj" fmla="val 3676"/>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6" name="s6"/>
          <p:cNvSpPr/>
          <p:nvPr/>
        </p:nvSpPr>
        <p:spPr>
          <a:xfrm>
            <a:off x="1499616" y="2103120"/>
            <a:ext cx="621792" cy="621792"/>
          </a:xfrm>
          <a:prstGeom prst="ellipse">
            <a:avLst/>
          </a:prstGeom>
          <a:solidFill>
            <a:srgbClr val="003857"/>
          </a:solidFill>
          <a:ln>
            <a:noFill/>
          </a:ln>
        </p:spPr>
        <p:txBody>
          <a:bodyPr lIns="0" tIns="0" rIns="0" bIns="0" anchor="ctr"/>
          <a:lstStyle/>
          <a:p/>
        </p:txBody>
      </p:sp>
      <p:sp>
        <p:nvSpPr>
          <p:cNvPr id="7" name="t7"/>
          <p:cNvSpPr txBox="1"/>
          <p:nvPr/>
        </p:nvSpPr>
        <p:spPr>
          <a:xfrm>
            <a:off x="1499616" y="2103120"/>
            <a:ext cx="621792" cy="621792"/>
          </a:xfrm>
          <a:prstGeom prst="rect">
            <a:avLst/>
          </a:prstGeom>
          <a:noFill/>
        </p:spPr>
        <p:txBody>
          <a:bodyPr wrap="square" lIns="0" tIns="0" rIns="0" bIns="0" anchor="ctr">
            <a:normAutofit/>
          </a:bodyPr>
          <a:lstStyle/>
          <a:p>
            <a:pPr algn="ctr" marL="0" indent="0">
              <a:buNone/>
            </a:pPr>
            <a:r>
              <a:rPr lang="en-GB" sz="2100" b="1" i="0" dirty="0">
                <a:solidFill>
                  <a:srgbClr val="FEA520"/>
                </a:solidFill>
                <a:latin typeface="Calibri"/>
                <a:cs typeface="Calibri"/>
              </a:rPr>
              <a:t>1</a:t>
            </a:r>
          </a:p>
        </p:txBody>
      </p:sp>
      <p:sp>
        <p:nvSpPr>
          <p:cNvPr id="8" name="t8"/>
          <p:cNvSpPr txBox="1"/>
          <p:nvPr/>
        </p:nvSpPr>
        <p:spPr>
          <a:xfrm>
            <a:off x="694944" y="2852928"/>
            <a:ext cx="2231136" cy="274320"/>
          </a:xfrm>
          <a:prstGeom prst="rect">
            <a:avLst/>
          </a:prstGeom>
          <a:noFill/>
        </p:spPr>
        <p:txBody>
          <a:bodyPr wrap="square" lIns="0" tIns="0" rIns="0" bIns="0" anchor="t">
            <a:normAutofit/>
          </a:bodyPr>
          <a:lstStyle/>
          <a:p>
            <a:pPr algn="ctr" marL="0" indent="0">
              <a:buNone/>
            </a:pPr>
            <a:r>
              <a:rPr lang="en-GB" sz="1050" b="1" i="0" dirty="0">
                <a:solidFill>
                  <a:srgbClr val="FEA520"/>
                </a:solidFill>
                <a:latin typeface="Calibri"/>
                <a:cs typeface="Calibri"/>
              </a:rPr>
              <a:t>FR-29</a:t>
            </a:r>
          </a:p>
        </p:txBody>
      </p:sp>
      <p:sp>
        <p:nvSpPr>
          <p:cNvPr id="9" name="t9"/>
          <p:cNvSpPr txBox="1"/>
          <p:nvPr/>
        </p:nvSpPr>
        <p:spPr>
          <a:xfrm>
            <a:off x="694944" y="3127248"/>
            <a:ext cx="2231136" cy="329184"/>
          </a:xfrm>
          <a:prstGeom prst="rect">
            <a:avLst/>
          </a:prstGeom>
          <a:noFill/>
        </p:spPr>
        <p:txBody>
          <a:bodyPr wrap="square" lIns="0" tIns="0" rIns="0" bIns="0" anchor="t">
            <a:normAutofit/>
          </a:bodyPr>
          <a:lstStyle/>
          <a:p>
            <a:pPr algn="ctr" marL="0" indent="0">
              <a:buNone/>
            </a:pPr>
            <a:r>
              <a:rPr lang="en-GB" sz="1450" b="1" i="0" dirty="0">
                <a:solidFill>
                  <a:srgbClr val="003857"/>
                </a:solidFill>
                <a:latin typeface="Calibri"/>
                <a:cs typeface="Calibri"/>
              </a:rPr>
              <a:t>Scheduler fires</a:t>
            </a:r>
          </a:p>
        </p:txBody>
      </p:sp>
      <p:sp>
        <p:nvSpPr>
          <p:cNvPr id="10" name="t10"/>
          <p:cNvSpPr txBox="1"/>
          <p:nvPr/>
        </p:nvSpPr>
        <p:spPr>
          <a:xfrm>
            <a:off x="731520" y="3511296"/>
            <a:ext cx="2157984" cy="868680"/>
          </a:xfrm>
          <a:prstGeom prst="rect">
            <a:avLst/>
          </a:prstGeom>
          <a:noFill/>
        </p:spPr>
        <p:txBody>
          <a:bodyPr wrap="square" lIns="0" tIns="0" rIns="0" bIns="0" anchor="t">
            <a:normAutofit/>
          </a:bodyPr>
          <a:lstStyle/>
          <a:p>
            <a:pPr algn="ctr" marL="0" indent="0">
              <a:buNone/>
            </a:pPr>
            <a:r>
              <a:rPr lang="en-GB" sz="1150" b="0" i="0" dirty="0">
                <a:solidFill>
                  <a:srgbClr val="5A6570"/>
                </a:solidFill>
                <a:latin typeface="Calibri"/>
                <a:cs typeface="Calibri"/>
              </a:rPr>
              <a:t>Once every day at 02:15 UTC, with no human involved</a:t>
            </a:r>
          </a:p>
        </p:txBody>
      </p:sp>
      <p:sp>
        <p:nvSpPr>
          <p:cNvPr id="11" name="t11"/>
          <p:cNvSpPr txBox="1"/>
          <p:nvPr/>
        </p:nvSpPr>
        <p:spPr>
          <a:xfrm>
            <a:off x="3072384" y="2889504"/>
            <a:ext cx="384048" cy="457200"/>
          </a:xfrm>
          <a:prstGeom prst="rect">
            <a:avLst/>
          </a:prstGeom>
          <a:noFill/>
        </p:spPr>
        <p:txBody>
          <a:bodyPr wrap="square" lIns="0" tIns="0" rIns="0" bIns="0" anchor="t">
            <a:normAutofit/>
          </a:bodyPr>
          <a:lstStyle/>
          <a:p>
            <a:pPr algn="ctr" marL="0" indent="0">
              <a:buNone/>
            </a:pPr>
            <a:r>
              <a:rPr lang="en-GB" sz="2800" b="1" i="0" dirty="0">
                <a:solidFill>
                  <a:srgbClr val="FEA520"/>
                </a:solidFill>
                <a:latin typeface="Calibri"/>
                <a:cs typeface="Calibri"/>
              </a:rPr>
              <a:t>›</a:t>
            </a:r>
          </a:p>
        </p:txBody>
      </p:sp>
      <p:sp>
        <p:nvSpPr>
          <p:cNvPr id="12" name="s12"/>
          <p:cNvSpPr/>
          <p:nvPr/>
        </p:nvSpPr>
        <p:spPr>
          <a:xfrm>
            <a:off x="3456432" y="1901952"/>
            <a:ext cx="2487168" cy="2542032"/>
          </a:xfrm>
          <a:prstGeom prst="roundRect">
            <a:avLst>
              <a:gd name="adj" fmla="val 3676"/>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3" name="s13"/>
          <p:cNvSpPr/>
          <p:nvPr/>
        </p:nvSpPr>
        <p:spPr>
          <a:xfrm>
            <a:off x="4389120" y="2103120"/>
            <a:ext cx="621792" cy="621792"/>
          </a:xfrm>
          <a:prstGeom prst="ellipse">
            <a:avLst/>
          </a:prstGeom>
          <a:solidFill>
            <a:srgbClr val="003857"/>
          </a:solidFill>
          <a:ln>
            <a:noFill/>
          </a:ln>
        </p:spPr>
        <p:txBody>
          <a:bodyPr lIns="0" tIns="0" rIns="0" bIns="0" anchor="ctr"/>
          <a:lstStyle/>
          <a:p/>
        </p:txBody>
      </p:sp>
      <p:sp>
        <p:nvSpPr>
          <p:cNvPr id="14" name="t14"/>
          <p:cNvSpPr txBox="1"/>
          <p:nvPr/>
        </p:nvSpPr>
        <p:spPr>
          <a:xfrm>
            <a:off x="4389120" y="2103120"/>
            <a:ext cx="621792" cy="621792"/>
          </a:xfrm>
          <a:prstGeom prst="rect">
            <a:avLst/>
          </a:prstGeom>
          <a:noFill/>
        </p:spPr>
        <p:txBody>
          <a:bodyPr wrap="square" lIns="0" tIns="0" rIns="0" bIns="0" anchor="ctr">
            <a:normAutofit/>
          </a:bodyPr>
          <a:lstStyle/>
          <a:p>
            <a:pPr algn="ctr" marL="0" indent="0">
              <a:buNone/>
            </a:pPr>
            <a:r>
              <a:rPr lang="en-GB" sz="2100" b="1" i="0" dirty="0">
                <a:solidFill>
                  <a:srgbClr val="FEA520"/>
                </a:solidFill>
                <a:latin typeface="Calibri"/>
                <a:cs typeface="Calibri"/>
              </a:rPr>
              <a:t>2</a:t>
            </a:r>
          </a:p>
        </p:txBody>
      </p:sp>
      <p:sp>
        <p:nvSpPr>
          <p:cNvPr id="15" name="t15"/>
          <p:cNvSpPr txBox="1"/>
          <p:nvPr/>
        </p:nvSpPr>
        <p:spPr>
          <a:xfrm>
            <a:off x="3584448" y="2852928"/>
            <a:ext cx="2231136" cy="274320"/>
          </a:xfrm>
          <a:prstGeom prst="rect">
            <a:avLst/>
          </a:prstGeom>
          <a:noFill/>
        </p:spPr>
        <p:txBody>
          <a:bodyPr wrap="square" lIns="0" tIns="0" rIns="0" bIns="0" anchor="t">
            <a:normAutofit/>
          </a:bodyPr>
          <a:lstStyle/>
          <a:p>
            <a:pPr algn="ctr" marL="0" indent="0">
              <a:buNone/>
            </a:pPr>
            <a:r>
              <a:rPr lang="en-GB" sz="1050" b="1" i="0" dirty="0">
                <a:solidFill>
                  <a:srgbClr val="FEA520"/>
                </a:solidFill>
                <a:latin typeface="Calibri"/>
                <a:cs typeface="Calibri"/>
              </a:rPr>
              <a:t>FR-27</a:t>
            </a:r>
          </a:p>
        </p:txBody>
      </p:sp>
      <p:sp>
        <p:nvSpPr>
          <p:cNvPr id="16" name="t16"/>
          <p:cNvSpPr txBox="1"/>
          <p:nvPr/>
        </p:nvSpPr>
        <p:spPr>
          <a:xfrm>
            <a:off x="3584448" y="3127248"/>
            <a:ext cx="2231136" cy="329184"/>
          </a:xfrm>
          <a:prstGeom prst="rect">
            <a:avLst/>
          </a:prstGeom>
          <a:noFill/>
        </p:spPr>
        <p:txBody>
          <a:bodyPr wrap="square" lIns="0" tIns="0" rIns="0" bIns="0" anchor="t">
            <a:normAutofit/>
          </a:bodyPr>
          <a:lstStyle/>
          <a:p>
            <a:pPr algn="ctr" marL="0" indent="0">
              <a:buNone/>
            </a:pPr>
            <a:r>
              <a:rPr lang="en-GB" sz="1450" b="1" i="0" dirty="0">
                <a:solidFill>
                  <a:srgbClr val="003857"/>
                </a:solidFill>
                <a:latin typeface="Calibri"/>
                <a:cs typeface="Calibri"/>
              </a:rPr>
              <a:t>Obligation raised</a:t>
            </a:r>
          </a:p>
        </p:txBody>
      </p:sp>
      <p:sp>
        <p:nvSpPr>
          <p:cNvPr id="17" name="t17"/>
          <p:cNvSpPr txBox="1"/>
          <p:nvPr/>
        </p:nvSpPr>
        <p:spPr>
          <a:xfrm>
            <a:off x="3621024" y="3511296"/>
            <a:ext cx="2157984" cy="868680"/>
          </a:xfrm>
          <a:prstGeom prst="rect">
            <a:avLst/>
          </a:prstGeom>
          <a:noFill/>
        </p:spPr>
        <p:txBody>
          <a:bodyPr wrap="square" lIns="0" tIns="0" rIns="0" bIns="0" anchor="t">
            <a:normAutofit/>
          </a:bodyPr>
          <a:lstStyle/>
          <a:p>
            <a:pPr algn="ctr" marL="0" indent="0">
              <a:buNone/>
            </a:pPr>
            <a:r>
              <a:rPr lang="en-GB" sz="1150" b="0" i="0" dirty="0">
                <a:solidFill>
                  <a:srgbClr val="5A6570"/>
                </a:solidFill>
                <a:latin typeface="Calibri"/>
                <a:cs typeface="Calibri"/>
              </a:rPr>
              <a:t>One charge per active lease on an occupied unit with rent above zero</a:t>
            </a:r>
          </a:p>
        </p:txBody>
      </p:sp>
      <p:sp>
        <p:nvSpPr>
          <p:cNvPr id="18" name="t18"/>
          <p:cNvSpPr txBox="1"/>
          <p:nvPr/>
        </p:nvSpPr>
        <p:spPr>
          <a:xfrm>
            <a:off x="5961888" y="2889504"/>
            <a:ext cx="384048" cy="457200"/>
          </a:xfrm>
          <a:prstGeom prst="rect">
            <a:avLst/>
          </a:prstGeom>
          <a:noFill/>
        </p:spPr>
        <p:txBody>
          <a:bodyPr wrap="square" lIns="0" tIns="0" rIns="0" bIns="0" anchor="t">
            <a:normAutofit/>
          </a:bodyPr>
          <a:lstStyle/>
          <a:p>
            <a:pPr algn="ctr" marL="0" indent="0">
              <a:buNone/>
            </a:pPr>
            <a:r>
              <a:rPr lang="en-GB" sz="2800" b="1" i="0" dirty="0">
                <a:solidFill>
                  <a:srgbClr val="FEA520"/>
                </a:solidFill>
                <a:latin typeface="Calibri"/>
                <a:cs typeface="Calibri"/>
              </a:rPr>
              <a:t>›</a:t>
            </a:r>
          </a:p>
        </p:txBody>
      </p:sp>
      <p:sp>
        <p:nvSpPr>
          <p:cNvPr id="19" name="s19"/>
          <p:cNvSpPr/>
          <p:nvPr/>
        </p:nvSpPr>
        <p:spPr>
          <a:xfrm>
            <a:off x="6345936" y="1901952"/>
            <a:ext cx="2487168" cy="2542032"/>
          </a:xfrm>
          <a:prstGeom prst="roundRect">
            <a:avLst>
              <a:gd name="adj" fmla="val 3676"/>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20" name="s20"/>
          <p:cNvSpPr/>
          <p:nvPr/>
        </p:nvSpPr>
        <p:spPr>
          <a:xfrm>
            <a:off x="7278624" y="2103120"/>
            <a:ext cx="621792" cy="621792"/>
          </a:xfrm>
          <a:prstGeom prst="ellipse">
            <a:avLst/>
          </a:prstGeom>
          <a:solidFill>
            <a:srgbClr val="003857"/>
          </a:solidFill>
          <a:ln>
            <a:noFill/>
          </a:ln>
        </p:spPr>
        <p:txBody>
          <a:bodyPr lIns="0" tIns="0" rIns="0" bIns="0" anchor="ctr"/>
          <a:lstStyle/>
          <a:p/>
        </p:txBody>
      </p:sp>
      <p:sp>
        <p:nvSpPr>
          <p:cNvPr id="21" name="t21"/>
          <p:cNvSpPr txBox="1"/>
          <p:nvPr/>
        </p:nvSpPr>
        <p:spPr>
          <a:xfrm>
            <a:off x="7278624" y="2103120"/>
            <a:ext cx="621792" cy="621792"/>
          </a:xfrm>
          <a:prstGeom prst="rect">
            <a:avLst/>
          </a:prstGeom>
          <a:noFill/>
        </p:spPr>
        <p:txBody>
          <a:bodyPr wrap="square" lIns="0" tIns="0" rIns="0" bIns="0" anchor="ctr">
            <a:normAutofit/>
          </a:bodyPr>
          <a:lstStyle/>
          <a:p>
            <a:pPr algn="ctr" marL="0" indent="0">
              <a:buNone/>
            </a:pPr>
            <a:r>
              <a:rPr lang="en-GB" sz="2100" b="1" i="0" dirty="0">
                <a:solidFill>
                  <a:srgbClr val="FEA520"/>
                </a:solidFill>
                <a:latin typeface="Calibri"/>
                <a:cs typeface="Calibri"/>
              </a:rPr>
              <a:t>3</a:t>
            </a:r>
          </a:p>
        </p:txBody>
      </p:sp>
      <p:sp>
        <p:nvSpPr>
          <p:cNvPr id="22" name="t22"/>
          <p:cNvSpPr txBox="1"/>
          <p:nvPr/>
        </p:nvSpPr>
        <p:spPr>
          <a:xfrm>
            <a:off x="6473952" y="2852928"/>
            <a:ext cx="2231136" cy="274320"/>
          </a:xfrm>
          <a:prstGeom prst="rect">
            <a:avLst/>
          </a:prstGeom>
          <a:noFill/>
        </p:spPr>
        <p:txBody>
          <a:bodyPr wrap="square" lIns="0" tIns="0" rIns="0" bIns="0" anchor="t">
            <a:normAutofit/>
          </a:bodyPr>
          <a:lstStyle/>
          <a:p>
            <a:pPr algn="ctr" marL="0" indent="0">
              <a:buNone/>
            </a:pPr>
            <a:r>
              <a:rPr lang="en-GB" sz="1050" b="1" i="0" dirty="0">
                <a:solidFill>
                  <a:srgbClr val="FEA520"/>
                </a:solidFill>
                <a:latin typeface="Calibri"/>
                <a:cs typeface="Calibri"/>
              </a:rPr>
              <a:t>FR-28</a:t>
            </a:r>
          </a:p>
        </p:txBody>
      </p:sp>
      <p:sp>
        <p:nvSpPr>
          <p:cNvPr id="23" name="t23"/>
          <p:cNvSpPr txBox="1"/>
          <p:nvPr/>
        </p:nvSpPr>
        <p:spPr>
          <a:xfrm>
            <a:off x="6473952" y="3127248"/>
            <a:ext cx="2231136" cy="329184"/>
          </a:xfrm>
          <a:prstGeom prst="rect">
            <a:avLst/>
          </a:prstGeom>
          <a:noFill/>
        </p:spPr>
        <p:txBody>
          <a:bodyPr wrap="square" lIns="0" tIns="0" rIns="0" bIns="0" anchor="t">
            <a:normAutofit/>
          </a:bodyPr>
          <a:lstStyle/>
          <a:p>
            <a:pPr algn="ctr" marL="0" indent="0">
              <a:buNone/>
            </a:pPr>
            <a:r>
              <a:rPr lang="en-GB" sz="1450" b="1" i="0" dirty="0">
                <a:solidFill>
                  <a:srgbClr val="003857"/>
                </a:solidFill>
                <a:latin typeface="Calibri"/>
                <a:cs typeface="Calibri"/>
              </a:rPr>
              <a:t>Duplicates refused</a:t>
            </a:r>
          </a:p>
        </p:txBody>
      </p:sp>
      <p:sp>
        <p:nvSpPr>
          <p:cNvPr id="24" name="t24"/>
          <p:cNvSpPr txBox="1"/>
          <p:nvPr/>
        </p:nvSpPr>
        <p:spPr>
          <a:xfrm>
            <a:off x="6510528" y="3511296"/>
            <a:ext cx="2157984" cy="868680"/>
          </a:xfrm>
          <a:prstGeom prst="rect">
            <a:avLst/>
          </a:prstGeom>
          <a:noFill/>
        </p:spPr>
        <p:txBody>
          <a:bodyPr wrap="square" lIns="0" tIns="0" rIns="0" bIns="0" anchor="t">
            <a:normAutofit/>
          </a:bodyPr>
          <a:lstStyle/>
          <a:p>
            <a:pPr algn="ctr" marL="0" indent="0">
              <a:buNone/>
            </a:pPr>
            <a:r>
              <a:rPr lang="en-GB" sz="1150" b="0" i="0" dirty="0">
                <a:solidFill>
                  <a:srgbClr val="5A6570"/>
                </a:solidFill>
                <a:latin typeface="Calibri"/>
                <a:cs typeface="Calibri"/>
              </a:rPr>
              <a:t>At most one system charge per tenant per due date</a:t>
            </a:r>
          </a:p>
        </p:txBody>
      </p:sp>
      <p:sp>
        <p:nvSpPr>
          <p:cNvPr id="25" name="t25"/>
          <p:cNvSpPr txBox="1"/>
          <p:nvPr/>
        </p:nvSpPr>
        <p:spPr>
          <a:xfrm>
            <a:off x="8851392" y="2889504"/>
            <a:ext cx="384048" cy="457200"/>
          </a:xfrm>
          <a:prstGeom prst="rect">
            <a:avLst/>
          </a:prstGeom>
          <a:noFill/>
        </p:spPr>
        <p:txBody>
          <a:bodyPr wrap="square" lIns="0" tIns="0" rIns="0" bIns="0" anchor="t">
            <a:normAutofit/>
          </a:bodyPr>
          <a:lstStyle/>
          <a:p>
            <a:pPr algn="ctr" marL="0" indent="0">
              <a:buNone/>
            </a:pPr>
            <a:r>
              <a:rPr lang="en-GB" sz="2800" b="1" i="0" dirty="0">
                <a:solidFill>
                  <a:srgbClr val="FEA520"/>
                </a:solidFill>
                <a:latin typeface="Calibri"/>
                <a:cs typeface="Calibri"/>
              </a:rPr>
              <a:t>›</a:t>
            </a:r>
          </a:p>
        </p:txBody>
      </p:sp>
      <p:sp>
        <p:nvSpPr>
          <p:cNvPr id="26" name="s26"/>
          <p:cNvSpPr/>
          <p:nvPr/>
        </p:nvSpPr>
        <p:spPr>
          <a:xfrm>
            <a:off x="9235440" y="1901952"/>
            <a:ext cx="2487168" cy="2542032"/>
          </a:xfrm>
          <a:prstGeom prst="roundRect">
            <a:avLst>
              <a:gd name="adj" fmla="val 3676"/>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27" name="s27"/>
          <p:cNvSpPr/>
          <p:nvPr/>
        </p:nvSpPr>
        <p:spPr>
          <a:xfrm>
            <a:off x="10168128" y="2103120"/>
            <a:ext cx="621792" cy="621792"/>
          </a:xfrm>
          <a:prstGeom prst="ellipse">
            <a:avLst/>
          </a:prstGeom>
          <a:solidFill>
            <a:srgbClr val="003857"/>
          </a:solidFill>
          <a:ln>
            <a:noFill/>
          </a:ln>
        </p:spPr>
        <p:txBody>
          <a:bodyPr lIns="0" tIns="0" rIns="0" bIns="0" anchor="ctr"/>
          <a:lstStyle/>
          <a:p/>
        </p:txBody>
      </p:sp>
      <p:sp>
        <p:nvSpPr>
          <p:cNvPr id="28" name="t28"/>
          <p:cNvSpPr txBox="1"/>
          <p:nvPr/>
        </p:nvSpPr>
        <p:spPr>
          <a:xfrm>
            <a:off x="10168128" y="2103120"/>
            <a:ext cx="621792" cy="621792"/>
          </a:xfrm>
          <a:prstGeom prst="rect">
            <a:avLst/>
          </a:prstGeom>
          <a:noFill/>
        </p:spPr>
        <p:txBody>
          <a:bodyPr wrap="square" lIns="0" tIns="0" rIns="0" bIns="0" anchor="ctr">
            <a:normAutofit/>
          </a:bodyPr>
          <a:lstStyle/>
          <a:p>
            <a:pPr algn="ctr" marL="0" indent="0">
              <a:buNone/>
            </a:pPr>
            <a:r>
              <a:rPr lang="en-GB" sz="2100" b="1" i="0" dirty="0">
                <a:solidFill>
                  <a:srgbClr val="FEA520"/>
                </a:solidFill>
                <a:latin typeface="Calibri"/>
                <a:cs typeface="Calibri"/>
              </a:rPr>
              <a:t>4</a:t>
            </a:r>
          </a:p>
        </p:txBody>
      </p:sp>
      <p:sp>
        <p:nvSpPr>
          <p:cNvPr id="29" name="t29"/>
          <p:cNvSpPr txBox="1"/>
          <p:nvPr/>
        </p:nvSpPr>
        <p:spPr>
          <a:xfrm>
            <a:off x="9363456" y="2852928"/>
            <a:ext cx="2231136" cy="274320"/>
          </a:xfrm>
          <a:prstGeom prst="rect">
            <a:avLst/>
          </a:prstGeom>
          <a:noFill/>
        </p:spPr>
        <p:txBody>
          <a:bodyPr wrap="square" lIns="0" tIns="0" rIns="0" bIns="0" anchor="t">
            <a:normAutofit/>
          </a:bodyPr>
          <a:lstStyle/>
          <a:p>
            <a:pPr algn="ctr" marL="0" indent="0">
              <a:buNone/>
            </a:pPr>
            <a:r>
              <a:rPr lang="en-GB" sz="1050" b="1" i="0" dirty="0">
                <a:solidFill>
                  <a:srgbClr val="FEA520"/>
                </a:solidFill>
                <a:latin typeface="Calibri"/>
                <a:cs typeface="Calibri"/>
              </a:rPr>
              <a:t>FR-30</a:t>
            </a:r>
          </a:p>
        </p:txBody>
      </p:sp>
      <p:sp>
        <p:nvSpPr>
          <p:cNvPr id="30" name="t30"/>
          <p:cNvSpPr txBox="1"/>
          <p:nvPr/>
        </p:nvSpPr>
        <p:spPr>
          <a:xfrm>
            <a:off x="9363456" y="3127248"/>
            <a:ext cx="2231136" cy="329184"/>
          </a:xfrm>
          <a:prstGeom prst="rect">
            <a:avLst/>
          </a:prstGeom>
          <a:noFill/>
        </p:spPr>
        <p:txBody>
          <a:bodyPr wrap="square" lIns="0" tIns="0" rIns="0" bIns="0" anchor="t">
            <a:normAutofit/>
          </a:bodyPr>
          <a:lstStyle/>
          <a:p>
            <a:pPr algn="ctr" marL="0" indent="0">
              <a:buNone/>
            </a:pPr>
            <a:r>
              <a:rPr lang="en-GB" sz="1450" b="1" i="0" dirty="0">
                <a:solidFill>
                  <a:srgbClr val="003857"/>
                </a:solidFill>
                <a:latin typeface="Calibri"/>
                <a:cs typeface="Calibri"/>
              </a:rPr>
              <a:t>Arrears marked</a:t>
            </a:r>
          </a:p>
        </p:txBody>
      </p:sp>
      <p:sp>
        <p:nvSpPr>
          <p:cNvPr id="31" name="t31"/>
          <p:cNvSpPr txBox="1"/>
          <p:nvPr/>
        </p:nvSpPr>
        <p:spPr>
          <a:xfrm>
            <a:off x="9400032" y="3511296"/>
            <a:ext cx="2157984" cy="868680"/>
          </a:xfrm>
          <a:prstGeom prst="rect">
            <a:avLst/>
          </a:prstGeom>
          <a:noFill/>
        </p:spPr>
        <p:txBody>
          <a:bodyPr wrap="square" lIns="0" tIns="0" rIns="0" bIns="0" anchor="t">
            <a:normAutofit/>
          </a:bodyPr>
          <a:lstStyle/>
          <a:p>
            <a:pPr algn="ctr" marL="0" indent="0">
              <a:buNone/>
            </a:pPr>
            <a:r>
              <a:rPr lang="en-GB" sz="1150" b="0" i="0" dirty="0">
                <a:solidFill>
                  <a:srgbClr val="5A6570"/>
                </a:solidFill>
                <a:latin typeface="Calibri"/>
                <a:cs typeface="Calibri"/>
              </a:rPr>
              <a:t>Every pending payment past its due date becomes overdue</a:t>
            </a:r>
          </a:p>
        </p:txBody>
      </p:sp>
      <p:sp>
        <p:nvSpPr>
          <p:cNvPr id="32" name="s32"/>
          <p:cNvSpPr/>
          <p:nvPr/>
        </p:nvSpPr>
        <p:spPr>
          <a:xfrm>
            <a:off x="566928" y="4773168"/>
            <a:ext cx="11057839" cy="1078992"/>
          </a:xfrm>
          <a:prstGeom prst="roundRect">
            <a:avLst>
              <a:gd name="adj" fmla="val 8474"/>
            </a:avLst>
          </a:prstGeom>
          <a:solidFill>
            <a:srgbClr val="003857"/>
          </a:solidFill>
          <a:ln>
            <a:noFill/>
          </a:ln>
        </p:spPr>
        <p:txBody>
          <a:bodyPr lIns="0" tIns="0" rIns="0" bIns="0" anchor="ctr"/>
          <a:lstStyle/>
          <a:p/>
        </p:txBody>
      </p:sp>
      <p:sp>
        <p:nvSpPr>
          <p:cNvPr id="33" name="t33"/>
          <p:cNvSpPr txBox="1"/>
          <p:nvPr/>
        </p:nvSpPr>
        <p:spPr>
          <a:xfrm>
            <a:off x="877824" y="4937760"/>
            <a:ext cx="2286000" cy="310896"/>
          </a:xfrm>
          <a:prstGeom prst="rect">
            <a:avLst/>
          </a:prstGeom>
          <a:noFill/>
        </p:spPr>
        <p:txBody>
          <a:bodyPr wrap="square" lIns="0" tIns="0" rIns="0" bIns="0" anchor="t">
            <a:normAutofit/>
          </a:bodyPr>
          <a:lstStyle/>
          <a:p>
            <a:pPr algn="l" marL="0" indent="0">
              <a:buNone/>
            </a:pPr>
            <a:r>
              <a:rPr lang="en-GB" sz="1400" b="1" i="0" dirty="0">
                <a:solidFill>
                  <a:srgbClr val="FEA520"/>
                </a:solidFill>
                <a:latin typeface="Calibri"/>
                <a:cs typeface="Calibri"/>
              </a:rPr>
              <a:t>Why it matters</a:t>
            </a:r>
          </a:p>
        </p:txBody>
      </p:sp>
      <p:sp>
        <p:nvSpPr>
          <p:cNvPr id="34" name="t34"/>
          <p:cNvSpPr txBox="1"/>
          <p:nvPr/>
        </p:nvSpPr>
        <p:spPr>
          <a:xfrm>
            <a:off x="3218688" y="4882896"/>
            <a:ext cx="8095183" cy="859536"/>
          </a:xfrm>
          <a:prstGeom prst="rect">
            <a:avLst/>
          </a:prstGeom>
          <a:noFill/>
        </p:spPr>
        <p:txBody>
          <a:bodyPr wrap="square" lIns="0" tIns="0" rIns="0" bIns="0" anchor="ctr">
            <a:normAutofit/>
          </a:bodyPr>
          <a:lstStyle/>
          <a:p>
            <a:pPr algn="l" marL="0" indent="0">
              <a:buNone/>
            </a:pPr>
            <a:r>
              <a:rPr lang="en-GB" sz="1300" b="0" i="0" dirty="0">
                <a:solidFill>
                  <a:srgbClr val="FFFFFF"/>
                </a:solidFill>
                <a:latin typeface="Calibri"/>
                <a:cs typeface="Calibri"/>
              </a:rPr>
              <a:t>The cycle is idempotent (NFR-33) — running it any number of times in a month produces exactly one charge per tenant. A retry after a failure can never double-charge a tenant.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2"/>
          <p:cNvSpPr txBox="1"/>
          <p:nvPr/>
        </p:nvSpPr>
        <p:spPr>
          <a:xfrm>
            <a:off x="566928" y="365760"/>
            <a:ext cx="11057839" cy="292608"/>
          </a:xfrm>
          <a:prstGeom prst="rect">
            <a:avLst/>
          </a:prstGeom>
          <a:noFill/>
        </p:spPr>
        <p:txBody>
          <a:bodyPr wrap="square" lIns="0" tIns="0" rIns="0" bIns="0" anchor="t">
            <a:normAutofit/>
          </a:bodyPr>
          <a:lstStyle/>
          <a:p>
            <a:pPr algn="l" marL="0" indent="0">
              <a:buNone/>
            </a:pPr>
            <a:r>
              <a:rPr lang="en-GB" sz="1200" b="1" i="0" spc="200" dirty="0">
                <a:solidFill>
                  <a:srgbClr val="FEA520"/>
                </a:solidFill>
                <a:latin typeface="Calibri"/>
                <a:cs typeface="Calibri"/>
              </a:rPr>
              <a:t>CRITICAL REQUIREMENT  ·  FR-31 … FR-37</a:t>
            </a:r>
          </a:p>
        </p:txBody>
      </p:sp>
      <p:sp>
        <p:nvSpPr>
          <p:cNvPr id="3" name="t3"/>
          <p:cNvSpPr txBox="1"/>
          <p:nvPr/>
        </p:nvSpPr>
        <p:spPr>
          <a:xfrm>
            <a:off x="566928" y="658368"/>
            <a:ext cx="11057839" cy="694944"/>
          </a:xfrm>
          <a:prstGeom prst="rect">
            <a:avLst/>
          </a:prstGeom>
          <a:noFill/>
        </p:spPr>
        <p:txBody>
          <a:bodyPr wrap="square" lIns="0" tIns="0" rIns="0" bIns="0" anchor="t">
            <a:normAutofit/>
          </a:bodyPr>
          <a:lstStyle/>
          <a:p>
            <a:pPr algn="l" marL="0" indent="0">
              <a:buNone/>
            </a:pPr>
            <a:r>
              <a:rPr lang="en-GB" sz="3200" b="1" i="0" dirty="0">
                <a:solidFill>
                  <a:srgbClr val="003857"/>
                </a:solidFill>
                <a:latin typeface="Calibri"/>
                <a:cs typeface="Calibri"/>
              </a:rPr>
              <a:t>Payments, arrears and receipts</a:t>
            </a:r>
          </a:p>
        </p:txBody>
      </p:sp>
      <p:sp>
        <p:nvSpPr>
          <p:cNvPr id="4" name="t4"/>
          <p:cNvSpPr txBox="1"/>
          <p:nvPr/>
        </p:nvSpPr>
        <p:spPr>
          <a:xfrm>
            <a:off x="566928" y="1444752"/>
            <a:ext cx="5394960" cy="310896"/>
          </a:xfrm>
          <a:prstGeom prst="rect">
            <a:avLst/>
          </a:prstGeom>
          <a:noFill/>
        </p:spPr>
        <p:txBody>
          <a:bodyPr wrap="square" lIns="0" tIns="0" rIns="0" bIns="0" anchor="t">
            <a:normAutofit/>
          </a:bodyPr>
          <a:lstStyle/>
          <a:p>
            <a:pPr algn="l" marL="0" indent="0">
              <a:buNone/>
            </a:pPr>
            <a:r>
              <a:rPr lang="en-GB" sz="1450" b="1" i="0" dirty="0">
                <a:solidFill>
                  <a:srgbClr val="003857"/>
                </a:solidFill>
                <a:latin typeface="Calibri"/>
                <a:cs typeface="Calibri"/>
              </a:rPr>
              <a:t>Payment status</a:t>
            </a:r>
          </a:p>
        </p:txBody>
      </p:sp>
      <p:sp>
        <p:nvSpPr>
          <p:cNvPr id="5" name="s5"/>
          <p:cNvSpPr/>
          <p:nvPr/>
        </p:nvSpPr>
        <p:spPr>
          <a:xfrm>
            <a:off x="566928" y="1865376"/>
            <a:ext cx="1874520" cy="548640"/>
          </a:xfrm>
          <a:prstGeom prst="roundRect">
            <a:avLst>
              <a:gd name="adj" fmla="val 50000"/>
            </a:avLst>
          </a:prstGeom>
          <a:solidFill>
            <a:srgbClr val="1B4F72"/>
          </a:solidFill>
          <a:ln>
            <a:noFill/>
          </a:ln>
        </p:spPr>
        <p:txBody>
          <a:bodyPr lIns="0" tIns="0" rIns="0" bIns="0" anchor="ctr"/>
          <a:lstStyle/>
          <a:p/>
        </p:txBody>
      </p:sp>
      <p:sp>
        <p:nvSpPr>
          <p:cNvPr id="6" name="t6"/>
          <p:cNvSpPr txBox="1"/>
          <p:nvPr/>
        </p:nvSpPr>
        <p:spPr>
          <a:xfrm>
            <a:off x="566928" y="1865376"/>
            <a:ext cx="1874520" cy="548640"/>
          </a:xfrm>
          <a:prstGeom prst="rect">
            <a:avLst/>
          </a:prstGeom>
          <a:noFill/>
        </p:spPr>
        <p:txBody>
          <a:bodyPr wrap="square" lIns="0" tIns="0" rIns="0" bIns="0" anchor="ctr">
            <a:normAutofit/>
          </a:bodyPr>
          <a:lstStyle/>
          <a:p>
            <a:pPr algn="ctr" marL="0" indent="0">
              <a:buNone/>
            </a:pPr>
            <a:r>
              <a:rPr lang="en-GB" sz="1450" b="1" i="0" dirty="0">
                <a:solidFill>
                  <a:srgbClr val="FFFFFF"/>
                </a:solidFill>
                <a:latin typeface="Calibri"/>
                <a:cs typeface="Calibri"/>
              </a:rPr>
              <a:t>pending</a:t>
            </a:r>
          </a:p>
        </p:txBody>
      </p:sp>
      <p:sp>
        <p:nvSpPr>
          <p:cNvPr id="7" name="t7"/>
          <p:cNvSpPr txBox="1"/>
          <p:nvPr/>
        </p:nvSpPr>
        <p:spPr>
          <a:xfrm>
            <a:off x="2615184" y="1865376"/>
            <a:ext cx="2011680" cy="548640"/>
          </a:xfrm>
          <a:prstGeom prst="rect">
            <a:avLst/>
          </a:prstGeom>
          <a:noFill/>
        </p:spPr>
        <p:txBody>
          <a:bodyPr wrap="square" lIns="0" tIns="0" rIns="0" bIns="0" anchor="ctr">
            <a:normAutofit/>
          </a:bodyPr>
          <a:lstStyle/>
          <a:p>
            <a:pPr algn="l" marL="0" indent="0">
              <a:buNone/>
            </a:pPr>
            <a:r>
              <a:rPr lang="en-GB" sz="1100" b="0" i="0" dirty="0">
                <a:solidFill>
                  <a:srgbClr val="5A6570"/>
                </a:solidFill>
                <a:latin typeface="Calibri"/>
                <a:cs typeface="Calibri"/>
              </a:rPr>
              <a:t>due date passes</a:t>
            </a:r>
          </a:p>
        </p:txBody>
      </p:sp>
      <p:sp>
        <p:nvSpPr>
          <p:cNvPr id="8" name="s8"/>
          <p:cNvSpPr/>
          <p:nvPr/>
        </p:nvSpPr>
        <p:spPr>
          <a:xfrm>
            <a:off x="566928" y="2596896"/>
            <a:ext cx="1874520" cy="548640"/>
          </a:xfrm>
          <a:prstGeom prst="roundRect">
            <a:avLst>
              <a:gd name="adj" fmla="val 50000"/>
            </a:avLst>
          </a:prstGeom>
          <a:solidFill>
            <a:srgbClr val="B4472C"/>
          </a:solidFill>
          <a:ln>
            <a:noFill/>
          </a:ln>
        </p:spPr>
        <p:txBody>
          <a:bodyPr lIns="0" tIns="0" rIns="0" bIns="0" anchor="ctr"/>
          <a:lstStyle/>
          <a:p/>
        </p:txBody>
      </p:sp>
      <p:sp>
        <p:nvSpPr>
          <p:cNvPr id="9" name="t9"/>
          <p:cNvSpPr txBox="1"/>
          <p:nvPr/>
        </p:nvSpPr>
        <p:spPr>
          <a:xfrm>
            <a:off x="566928" y="2596896"/>
            <a:ext cx="1874520" cy="548640"/>
          </a:xfrm>
          <a:prstGeom prst="rect">
            <a:avLst/>
          </a:prstGeom>
          <a:noFill/>
        </p:spPr>
        <p:txBody>
          <a:bodyPr wrap="square" lIns="0" tIns="0" rIns="0" bIns="0" anchor="ctr">
            <a:normAutofit/>
          </a:bodyPr>
          <a:lstStyle/>
          <a:p>
            <a:pPr algn="ctr" marL="0" indent="0">
              <a:buNone/>
            </a:pPr>
            <a:r>
              <a:rPr lang="en-GB" sz="1450" b="1" i="0" dirty="0">
                <a:solidFill>
                  <a:srgbClr val="FFFFFF"/>
                </a:solidFill>
                <a:latin typeface="Calibri"/>
                <a:cs typeface="Calibri"/>
              </a:rPr>
              <a:t>overdue</a:t>
            </a:r>
          </a:p>
        </p:txBody>
      </p:sp>
      <p:sp>
        <p:nvSpPr>
          <p:cNvPr id="10" name="t10"/>
          <p:cNvSpPr txBox="1"/>
          <p:nvPr/>
        </p:nvSpPr>
        <p:spPr>
          <a:xfrm>
            <a:off x="2615184" y="2596896"/>
            <a:ext cx="2011680" cy="548640"/>
          </a:xfrm>
          <a:prstGeom prst="rect">
            <a:avLst/>
          </a:prstGeom>
          <a:noFill/>
        </p:spPr>
        <p:txBody>
          <a:bodyPr wrap="square" lIns="0" tIns="0" rIns="0" bIns="0" anchor="ctr">
            <a:normAutofit/>
          </a:bodyPr>
          <a:lstStyle/>
          <a:p>
            <a:pPr algn="l" marL="0" indent="0">
              <a:buNone/>
            </a:pPr>
            <a:r>
              <a:rPr lang="en-GB" sz="1100" b="0" i="0" dirty="0">
                <a:solidFill>
                  <a:srgbClr val="5A6570"/>
                </a:solidFill>
                <a:latin typeface="Calibri"/>
                <a:cs typeface="Calibri"/>
              </a:rPr>
              <a:t>payment recorded</a:t>
            </a:r>
          </a:p>
        </p:txBody>
      </p:sp>
      <p:sp>
        <p:nvSpPr>
          <p:cNvPr id="11" name="s11"/>
          <p:cNvSpPr/>
          <p:nvPr/>
        </p:nvSpPr>
        <p:spPr>
          <a:xfrm>
            <a:off x="566928" y="3328416"/>
            <a:ext cx="1874520" cy="548640"/>
          </a:xfrm>
          <a:prstGeom prst="roundRect">
            <a:avLst>
              <a:gd name="adj" fmla="val 50000"/>
            </a:avLst>
          </a:prstGeom>
          <a:solidFill>
            <a:srgbClr val="2C6E49"/>
          </a:solidFill>
          <a:ln>
            <a:noFill/>
          </a:ln>
        </p:spPr>
        <p:txBody>
          <a:bodyPr lIns="0" tIns="0" rIns="0" bIns="0" anchor="ctr"/>
          <a:lstStyle/>
          <a:p/>
        </p:txBody>
      </p:sp>
      <p:sp>
        <p:nvSpPr>
          <p:cNvPr id="12" name="t12"/>
          <p:cNvSpPr txBox="1"/>
          <p:nvPr/>
        </p:nvSpPr>
        <p:spPr>
          <a:xfrm>
            <a:off x="566928" y="3328416"/>
            <a:ext cx="1874520" cy="548640"/>
          </a:xfrm>
          <a:prstGeom prst="rect">
            <a:avLst/>
          </a:prstGeom>
          <a:noFill/>
        </p:spPr>
        <p:txBody>
          <a:bodyPr wrap="square" lIns="0" tIns="0" rIns="0" bIns="0" anchor="ctr">
            <a:normAutofit/>
          </a:bodyPr>
          <a:lstStyle/>
          <a:p>
            <a:pPr algn="ctr" marL="0" indent="0">
              <a:buNone/>
            </a:pPr>
            <a:r>
              <a:rPr lang="en-GB" sz="1450" b="1" i="0" dirty="0">
                <a:solidFill>
                  <a:srgbClr val="FFFFFF"/>
                </a:solidFill>
                <a:latin typeface="Calibri"/>
                <a:cs typeface="Calibri"/>
              </a:rPr>
              <a:t>paid</a:t>
            </a:r>
          </a:p>
        </p:txBody>
      </p:sp>
      <p:sp>
        <p:nvSpPr>
          <p:cNvPr id="13" name="t13"/>
          <p:cNvSpPr txBox="1"/>
          <p:nvPr/>
        </p:nvSpPr>
        <p:spPr>
          <a:xfrm>
            <a:off x="2615184" y="3328416"/>
            <a:ext cx="2011680" cy="548640"/>
          </a:xfrm>
          <a:prstGeom prst="rect">
            <a:avLst/>
          </a:prstGeom>
          <a:noFill/>
        </p:spPr>
        <p:txBody>
          <a:bodyPr wrap="square" lIns="0" tIns="0" rIns="0" bIns="0" anchor="ctr">
            <a:normAutofit/>
          </a:bodyPr>
          <a:lstStyle/>
          <a:p>
            <a:pPr algn="l" marL="0" indent="0">
              <a:buNone/>
            </a:pPr>
            <a:r>
              <a:rPr lang="en-GB" sz="1100" b="0" i="0" dirty="0">
                <a:solidFill>
                  <a:srgbClr val="5A6570"/>
                </a:solidFill>
                <a:latin typeface="Calibri"/>
                <a:cs typeface="Calibri"/>
              </a:rPr>
              <a:t>terminal state</a:t>
            </a:r>
          </a:p>
        </p:txBody>
      </p:sp>
      <p:sp>
        <p:nvSpPr>
          <p:cNvPr id="14" name="s14"/>
          <p:cNvSpPr/>
          <p:nvPr/>
        </p:nvSpPr>
        <p:spPr>
          <a:xfrm>
            <a:off x="566928" y="4206240"/>
            <a:ext cx="4937760" cy="1417320"/>
          </a:xfrm>
          <a:prstGeom prst="roundRect">
            <a:avLst>
              <a:gd name="adj" fmla="val 6451"/>
            </a:avLst>
          </a:prstGeom>
          <a:solidFill>
            <a:srgbClr val="F1F4F7"/>
          </a:solidFill>
          <a:ln w="12700">
            <a:solidFill>
              <a:srgbClr val="DCE3E9"/>
            </a:solidFill>
          </a:ln>
        </p:spPr>
        <p:txBody>
          <a:bodyPr lIns="0" tIns="0" rIns="0" bIns="0" anchor="ctr"/>
          <a:lstStyle/>
          <a:p/>
        </p:txBody>
      </p:sp>
      <p:sp>
        <p:nvSpPr>
          <p:cNvPr id="15" name="t15"/>
          <p:cNvSpPr txBox="1"/>
          <p:nvPr/>
        </p:nvSpPr>
        <p:spPr>
          <a:xfrm>
            <a:off x="822960" y="4352544"/>
            <a:ext cx="4434840" cy="1143000"/>
          </a:xfrm>
          <a:prstGeom prst="rect">
            <a:avLst/>
          </a:prstGeom>
          <a:noFill/>
        </p:spPr>
        <p:txBody>
          <a:bodyPr wrap="square" lIns="0" tIns="0" rIns="0" bIns="0" anchor="t">
            <a:normAutofit/>
          </a:bodyPr>
          <a:lstStyle/>
          <a:p>
            <a:pPr algn="l" marL="0" indent="0">
              <a:buNone/>
            </a:pPr>
            <a:r>
              <a:rPr lang="en-GB" sz="1250" b="0" i="0" dirty="0">
                <a:solidFill>
                  <a:srgbClr val="1A1C1E"/>
                </a:solidFill>
                <a:latin typeface="Calibri"/>
                <a:cs typeface="Calibri"/>
              </a:rPr>
              <a:t>Rent is received outside the system — bank transfer, cash or mobile money — and recorded afterwards. The system is a record of payment, not a means of payment (ASM-01).</a:t>
            </a:r>
          </a:p>
        </p:txBody>
      </p:sp>
      <p:sp>
        <p:nvSpPr>
          <p:cNvPr id="16" name="t16"/>
          <p:cNvSpPr txBox="1"/>
          <p:nvPr/>
        </p:nvSpPr>
        <p:spPr>
          <a:xfrm>
            <a:off x="6263640" y="1444752"/>
            <a:ext cx="5358384" cy="310896"/>
          </a:xfrm>
          <a:prstGeom prst="rect">
            <a:avLst/>
          </a:prstGeom>
          <a:noFill/>
        </p:spPr>
        <p:txBody>
          <a:bodyPr wrap="square" lIns="0" tIns="0" rIns="0" bIns="0" anchor="t">
            <a:normAutofit/>
          </a:bodyPr>
          <a:lstStyle/>
          <a:p>
            <a:pPr algn="l" marL="0" indent="0">
              <a:buNone/>
            </a:pPr>
            <a:r>
              <a:rPr lang="en-GB" sz="1450" b="1" i="0" dirty="0">
                <a:solidFill>
                  <a:srgbClr val="003857"/>
                </a:solidFill>
                <a:latin typeface="Calibri"/>
                <a:cs typeface="Calibri"/>
              </a:rPr>
              <a:t>Rules that protect the money</a:t>
            </a:r>
          </a:p>
        </p:txBody>
      </p:sp>
      <p:sp>
        <p:nvSpPr>
          <p:cNvPr id="17" name="s17"/>
          <p:cNvSpPr/>
          <p:nvPr/>
        </p:nvSpPr>
        <p:spPr>
          <a:xfrm>
            <a:off x="6263640" y="1865376"/>
            <a:ext cx="5358384" cy="905256"/>
          </a:xfrm>
          <a:prstGeom prst="roundRect">
            <a:avLst>
              <a:gd name="adj" fmla="val 10101"/>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8" name="s18"/>
          <p:cNvSpPr/>
          <p:nvPr/>
        </p:nvSpPr>
        <p:spPr>
          <a:xfrm>
            <a:off x="6437376" y="2121408"/>
            <a:ext cx="786384" cy="393192"/>
          </a:xfrm>
          <a:prstGeom prst="roundRect">
            <a:avLst>
              <a:gd name="adj" fmla="val 16279"/>
            </a:avLst>
          </a:prstGeom>
          <a:solidFill>
            <a:srgbClr val="003857"/>
          </a:solidFill>
          <a:ln>
            <a:noFill/>
          </a:ln>
        </p:spPr>
        <p:txBody>
          <a:bodyPr lIns="0" tIns="0" rIns="0" bIns="0" anchor="ctr"/>
          <a:lstStyle/>
          <a:p/>
        </p:txBody>
      </p:sp>
      <p:sp>
        <p:nvSpPr>
          <p:cNvPr id="19" name="t19"/>
          <p:cNvSpPr txBox="1"/>
          <p:nvPr/>
        </p:nvSpPr>
        <p:spPr>
          <a:xfrm>
            <a:off x="6437376" y="2121408"/>
            <a:ext cx="786384" cy="393192"/>
          </a:xfrm>
          <a:prstGeom prst="rect">
            <a:avLst/>
          </a:prstGeom>
          <a:noFill/>
        </p:spPr>
        <p:txBody>
          <a:bodyPr wrap="square" lIns="0" tIns="0" rIns="0" bIns="0" anchor="ctr">
            <a:normAutofit/>
          </a:bodyPr>
          <a:lstStyle/>
          <a:p>
            <a:pPr algn="ctr" marL="0" indent="0">
              <a:buNone/>
            </a:pPr>
            <a:r>
              <a:rPr lang="en-GB" sz="1100" b="1" i="0" dirty="0">
                <a:solidFill>
                  <a:srgbClr val="FEA520"/>
                </a:solidFill>
                <a:latin typeface="Calibri"/>
                <a:cs typeface="Calibri"/>
              </a:rPr>
              <a:t>FR-33</a:t>
            </a:r>
          </a:p>
        </p:txBody>
      </p:sp>
      <p:sp>
        <p:nvSpPr>
          <p:cNvPr id="20" name="t20"/>
          <p:cNvSpPr txBox="1"/>
          <p:nvPr/>
        </p:nvSpPr>
        <p:spPr>
          <a:xfrm>
            <a:off x="7351776" y="1956816"/>
            <a:ext cx="4133088" cy="722376"/>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A payment already marked paid cannot be recorded again — a double entry cannot understate arrears</a:t>
            </a:r>
          </a:p>
        </p:txBody>
      </p:sp>
      <p:sp>
        <p:nvSpPr>
          <p:cNvPr id="21" name="s21"/>
          <p:cNvSpPr/>
          <p:nvPr/>
        </p:nvSpPr>
        <p:spPr>
          <a:xfrm>
            <a:off x="6263640" y="2898648"/>
            <a:ext cx="5358384" cy="905256"/>
          </a:xfrm>
          <a:prstGeom prst="roundRect">
            <a:avLst>
              <a:gd name="adj" fmla="val 10101"/>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22" name="s22"/>
          <p:cNvSpPr/>
          <p:nvPr/>
        </p:nvSpPr>
        <p:spPr>
          <a:xfrm>
            <a:off x="6437376" y="3154680"/>
            <a:ext cx="786384" cy="393192"/>
          </a:xfrm>
          <a:prstGeom prst="roundRect">
            <a:avLst>
              <a:gd name="adj" fmla="val 16279"/>
            </a:avLst>
          </a:prstGeom>
          <a:solidFill>
            <a:srgbClr val="003857"/>
          </a:solidFill>
          <a:ln>
            <a:noFill/>
          </a:ln>
        </p:spPr>
        <p:txBody>
          <a:bodyPr lIns="0" tIns="0" rIns="0" bIns="0" anchor="ctr"/>
          <a:lstStyle/>
          <a:p/>
        </p:txBody>
      </p:sp>
      <p:sp>
        <p:nvSpPr>
          <p:cNvPr id="23" name="t23"/>
          <p:cNvSpPr txBox="1"/>
          <p:nvPr/>
        </p:nvSpPr>
        <p:spPr>
          <a:xfrm>
            <a:off x="6437376" y="3154680"/>
            <a:ext cx="786384" cy="393192"/>
          </a:xfrm>
          <a:prstGeom prst="rect">
            <a:avLst/>
          </a:prstGeom>
          <a:noFill/>
        </p:spPr>
        <p:txBody>
          <a:bodyPr wrap="square" lIns="0" tIns="0" rIns="0" bIns="0" anchor="ctr">
            <a:normAutofit/>
          </a:bodyPr>
          <a:lstStyle/>
          <a:p>
            <a:pPr algn="ctr" marL="0" indent="0">
              <a:buNone/>
            </a:pPr>
            <a:r>
              <a:rPr lang="en-GB" sz="1100" b="1" i="0" dirty="0">
                <a:solidFill>
                  <a:srgbClr val="FEA520"/>
                </a:solidFill>
                <a:latin typeface="Calibri"/>
                <a:cs typeface="Calibri"/>
              </a:rPr>
              <a:t>FR-36</a:t>
            </a:r>
          </a:p>
        </p:txBody>
      </p:sp>
      <p:sp>
        <p:nvSpPr>
          <p:cNvPr id="24" name="t24"/>
          <p:cNvSpPr txBox="1"/>
          <p:nvPr/>
        </p:nvSpPr>
        <p:spPr>
          <a:xfrm>
            <a:off x="7351776" y="2990088"/>
            <a:ext cx="4133088" cy="722376"/>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A receipt is issued only for a payment whose status is paid</a:t>
            </a:r>
          </a:p>
        </p:txBody>
      </p:sp>
      <p:sp>
        <p:nvSpPr>
          <p:cNvPr id="25" name="s25"/>
          <p:cNvSpPr/>
          <p:nvPr/>
        </p:nvSpPr>
        <p:spPr>
          <a:xfrm>
            <a:off x="6263640" y="3931920"/>
            <a:ext cx="5358384" cy="905256"/>
          </a:xfrm>
          <a:prstGeom prst="roundRect">
            <a:avLst>
              <a:gd name="adj" fmla="val 10101"/>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26" name="s26"/>
          <p:cNvSpPr/>
          <p:nvPr/>
        </p:nvSpPr>
        <p:spPr>
          <a:xfrm>
            <a:off x="6437376" y="4187952"/>
            <a:ext cx="786384" cy="393192"/>
          </a:xfrm>
          <a:prstGeom prst="roundRect">
            <a:avLst>
              <a:gd name="adj" fmla="val 16279"/>
            </a:avLst>
          </a:prstGeom>
          <a:solidFill>
            <a:srgbClr val="003857"/>
          </a:solidFill>
          <a:ln>
            <a:noFill/>
          </a:ln>
        </p:spPr>
        <p:txBody>
          <a:bodyPr lIns="0" tIns="0" rIns="0" bIns="0" anchor="ctr"/>
          <a:lstStyle/>
          <a:p/>
        </p:txBody>
      </p:sp>
      <p:sp>
        <p:nvSpPr>
          <p:cNvPr id="27" name="t27"/>
          <p:cNvSpPr txBox="1"/>
          <p:nvPr/>
        </p:nvSpPr>
        <p:spPr>
          <a:xfrm>
            <a:off x="6437376" y="4187952"/>
            <a:ext cx="786384" cy="393192"/>
          </a:xfrm>
          <a:prstGeom prst="rect">
            <a:avLst/>
          </a:prstGeom>
          <a:noFill/>
        </p:spPr>
        <p:txBody>
          <a:bodyPr wrap="square" lIns="0" tIns="0" rIns="0" bIns="0" anchor="ctr">
            <a:normAutofit/>
          </a:bodyPr>
          <a:lstStyle/>
          <a:p>
            <a:pPr algn="ctr" marL="0" indent="0">
              <a:buNone/>
            </a:pPr>
            <a:r>
              <a:rPr lang="en-GB" sz="1100" b="1" i="0" dirty="0">
                <a:solidFill>
                  <a:srgbClr val="FEA520"/>
                </a:solidFill>
                <a:latin typeface="Calibri"/>
                <a:cs typeface="Calibri"/>
              </a:rPr>
              <a:t>FR-37</a:t>
            </a:r>
          </a:p>
        </p:txBody>
      </p:sp>
      <p:sp>
        <p:nvSpPr>
          <p:cNvPr id="28" name="t28"/>
          <p:cNvSpPr txBox="1"/>
          <p:nvPr/>
        </p:nvSpPr>
        <p:spPr>
          <a:xfrm>
            <a:off x="7351776" y="4023360"/>
            <a:ext cx="4133088" cy="722376"/>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Only the managing landlord or the tenant named on the payment may obtain it</a:t>
            </a:r>
          </a:p>
        </p:txBody>
      </p:sp>
      <p:sp>
        <p:nvSpPr>
          <p:cNvPr id="29" name="s29"/>
          <p:cNvSpPr/>
          <p:nvPr/>
        </p:nvSpPr>
        <p:spPr>
          <a:xfrm>
            <a:off x="6263640" y="4965192"/>
            <a:ext cx="5358384" cy="905256"/>
          </a:xfrm>
          <a:prstGeom prst="roundRect">
            <a:avLst>
              <a:gd name="adj" fmla="val 10101"/>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30" name="s30"/>
          <p:cNvSpPr/>
          <p:nvPr/>
        </p:nvSpPr>
        <p:spPr>
          <a:xfrm>
            <a:off x="6437376" y="5221224"/>
            <a:ext cx="786384" cy="393192"/>
          </a:xfrm>
          <a:prstGeom prst="roundRect">
            <a:avLst>
              <a:gd name="adj" fmla="val 16279"/>
            </a:avLst>
          </a:prstGeom>
          <a:solidFill>
            <a:srgbClr val="003857"/>
          </a:solidFill>
          <a:ln>
            <a:noFill/>
          </a:ln>
        </p:spPr>
        <p:txBody>
          <a:bodyPr lIns="0" tIns="0" rIns="0" bIns="0" anchor="ctr"/>
          <a:lstStyle/>
          <a:p/>
        </p:txBody>
      </p:sp>
      <p:sp>
        <p:nvSpPr>
          <p:cNvPr id="31" name="t31"/>
          <p:cNvSpPr txBox="1"/>
          <p:nvPr/>
        </p:nvSpPr>
        <p:spPr>
          <a:xfrm>
            <a:off x="6437376" y="5221224"/>
            <a:ext cx="786384" cy="393192"/>
          </a:xfrm>
          <a:prstGeom prst="rect">
            <a:avLst/>
          </a:prstGeom>
          <a:noFill/>
        </p:spPr>
        <p:txBody>
          <a:bodyPr wrap="square" lIns="0" tIns="0" rIns="0" bIns="0" anchor="ctr">
            <a:normAutofit/>
          </a:bodyPr>
          <a:lstStyle/>
          <a:p>
            <a:pPr algn="ctr" marL="0" indent="0">
              <a:buNone/>
            </a:pPr>
            <a:r>
              <a:rPr lang="en-GB" sz="1100" b="1" i="0" dirty="0">
                <a:solidFill>
                  <a:srgbClr val="FEA520"/>
                </a:solidFill>
                <a:latin typeface="Calibri"/>
                <a:cs typeface="Calibri"/>
              </a:rPr>
              <a:t>FR-32</a:t>
            </a:r>
          </a:p>
        </p:txBody>
      </p:sp>
      <p:sp>
        <p:nvSpPr>
          <p:cNvPr id="32" name="t32"/>
          <p:cNvSpPr txBox="1"/>
          <p:nvPr/>
        </p:nvSpPr>
        <p:spPr>
          <a:xfrm>
            <a:off x="7351776" y="5056632"/>
            <a:ext cx="4133088" cy="722376"/>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A payment date that is not a valid date is rejected before anything is written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3857"/>
        </a:solidFill>
        <a:effectLst/>
      </p:bgPr>
    </p:bg>
    <p:spTree>
      <p:nvGrpSpPr>
        <p:cNvPr id="1" name=""/>
        <p:cNvGrpSpPr/>
        <p:nvPr/>
      </p:nvGrpSpPr>
      <p:grpSpPr>
        <a:xfrm>
          <a:off x="0" y="0"/>
          <a:ext cx="0" cy="0"/>
          <a:chOff x="0" y="0"/>
          <a:chExt cx="0" cy="0"/>
        </a:xfrm>
      </p:grpSpPr>
      <p:sp>
        <p:nvSpPr>
          <p:cNvPr id="2" name="t2"/>
          <p:cNvSpPr txBox="1"/>
          <p:nvPr/>
        </p:nvSpPr>
        <p:spPr>
          <a:xfrm>
            <a:off x="566928" y="365760"/>
            <a:ext cx="11057839" cy="292608"/>
          </a:xfrm>
          <a:prstGeom prst="rect">
            <a:avLst/>
          </a:prstGeom>
          <a:noFill/>
        </p:spPr>
        <p:txBody>
          <a:bodyPr wrap="square" lIns="0" tIns="0" rIns="0" bIns="0" anchor="t">
            <a:normAutofit/>
          </a:bodyPr>
          <a:lstStyle/>
          <a:p>
            <a:pPr algn="l" marL="0" indent="0">
              <a:buNone/>
            </a:pPr>
            <a:r>
              <a:rPr lang="en-GB" sz="1200" b="1" i="0" spc="200" dirty="0">
                <a:solidFill>
                  <a:srgbClr val="FEA520"/>
                </a:solidFill>
                <a:latin typeface="Calibri"/>
                <a:cs typeface="Calibri"/>
              </a:rPr>
              <a:t>NON-FUNCTIONAL  ·  NFR-10 … NFR-13</a:t>
            </a:r>
          </a:p>
        </p:txBody>
      </p:sp>
      <p:sp>
        <p:nvSpPr>
          <p:cNvPr id="3" name="t3"/>
          <p:cNvSpPr txBox="1"/>
          <p:nvPr/>
        </p:nvSpPr>
        <p:spPr>
          <a:xfrm>
            <a:off x="566928" y="658368"/>
            <a:ext cx="11057839" cy="694944"/>
          </a:xfrm>
          <a:prstGeom prst="rect">
            <a:avLst/>
          </a:prstGeom>
          <a:noFill/>
        </p:spPr>
        <p:txBody>
          <a:bodyPr wrap="square" lIns="0" tIns="0" rIns="0" bIns="0" anchor="t">
            <a:normAutofit/>
          </a:bodyPr>
          <a:lstStyle/>
          <a:p>
            <a:pPr algn="l" marL="0" indent="0">
              <a:buNone/>
            </a:pPr>
            <a:r>
              <a:rPr lang="en-GB" sz="3200" b="1" i="0" dirty="0">
                <a:solidFill>
                  <a:srgbClr val="FFFFFF"/>
                </a:solidFill>
                <a:latin typeface="Calibri"/>
                <a:cs typeface="Calibri"/>
              </a:rPr>
              <a:t>Authorisation lives in the database</a:t>
            </a:r>
          </a:p>
        </p:txBody>
      </p:sp>
      <p:sp>
        <p:nvSpPr>
          <p:cNvPr id="4" name="t4"/>
          <p:cNvSpPr txBox="1"/>
          <p:nvPr/>
        </p:nvSpPr>
        <p:spPr>
          <a:xfrm>
            <a:off x="566928" y="1408176"/>
            <a:ext cx="10424160" cy="457200"/>
          </a:xfrm>
          <a:prstGeom prst="rect">
            <a:avLst/>
          </a:prstGeom>
          <a:noFill/>
        </p:spPr>
        <p:txBody>
          <a:bodyPr wrap="square" lIns="0" tIns="0" rIns="0" bIns="0" anchor="t">
            <a:normAutofit/>
          </a:bodyPr>
          <a:lstStyle/>
          <a:p>
            <a:pPr algn="l" marL="0" indent="0">
              <a:buNone/>
            </a:pPr>
            <a:r>
              <a:rPr lang="en-GB" sz="1500" b="0" i="0" dirty="0">
                <a:solidFill>
                  <a:srgbClr val="C8D8E4"/>
                </a:solidFill>
                <a:latin typeface="Calibri"/>
                <a:cs typeface="Calibri"/>
              </a:rPr>
              <a:t>Every table carries row-level rules. A defect in the interface cannot, on its own, expose one landlord's portfolio to another.</a:t>
            </a:r>
          </a:p>
        </p:txBody>
      </p:sp>
      <p:sp>
        <p:nvSpPr>
          <p:cNvPr id="5" name="s5"/>
          <p:cNvSpPr/>
          <p:nvPr/>
        </p:nvSpPr>
        <p:spPr>
          <a:xfrm>
            <a:off x="566928" y="2121408"/>
            <a:ext cx="3520440" cy="3035808"/>
          </a:xfrm>
          <a:prstGeom prst="roundRect">
            <a:avLst>
              <a:gd name="adj" fmla="val 3614"/>
            </a:avLst>
          </a:prstGeom>
          <a:solidFill>
            <a:srgbClr val="1B4F72"/>
          </a:solidFill>
          <a:ln>
            <a:noFill/>
          </a:ln>
        </p:spPr>
        <p:txBody>
          <a:bodyPr lIns="0" tIns="0" rIns="0" bIns="0" anchor="ctr"/>
          <a:lstStyle/>
          <a:p/>
        </p:txBody>
      </p:sp>
      <p:sp>
        <p:nvSpPr>
          <p:cNvPr id="6" name="t6"/>
          <p:cNvSpPr txBox="1"/>
          <p:nvPr/>
        </p:nvSpPr>
        <p:spPr>
          <a:xfrm>
            <a:off x="822960" y="2340864"/>
            <a:ext cx="3008376" cy="292608"/>
          </a:xfrm>
          <a:prstGeom prst="rect">
            <a:avLst/>
          </a:prstGeom>
          <a:noFill/>
        </p:spPr>
        <p:txBody>
          <a:bodyPr wrap="square" lIns="0" tIns="0" rIns="0" bIns="0" anchor="t">
            <a:normAutofit/>
          </a:bodyPr>
          <a:lstStyle/>
          <a:p>
            <a:pPr algn="l" marL="0" indent="0">
              <a:buNone/>
            </a:pPr>
            <a:r>
              <a:rPr lang="en-GB" sz="1150" b="1" i="0" dirty="0">
                <a:solidFill>
                  <a:srgbClr val="FEA520"/>
                </a:solidFill>
                <a:latin typeface="Calibri"/>
                <a:cs typeface="Calibri"/>
              </a:rPr>
              <a:t>NFR-10</a:t>
            </a:r>
          </a:p>
        </p:txBody>
      </p:sp>
      <p:sp>
        <p:nvSpPr>
          <p:cNvPr id="7" name="t7"/>
          <p:cNvSpPr txBox="1"/>
          <p:nvPr/>
        </p:nvSpPr>
        <p:spPr>
          <a:xfrm>
            <a:off x="822960" y="2651760"/>
            <a:ext cx="3008376" cy="402336"/>
          </a:xfrm>
          <a:prstGeom prst="rect">
            <a:avLst/>
          </a:prstGeom>
          <a:noFill/>
        </p:spPr>
        <p:txBody>
          <a:bodyPr wrap="square" lIns="0" tIns="0" rIns="0" bIns="0" anchor="t">
            <a:normAutofit/>
          </a:bodyPr>
          <a:lstStyle/>
          <a:p>
            <a:pPr algn="l" marL="0" indent="0">
              <a:buNone/>
            </a:pPr>
            <a:r>
              <a:rPr lang="en-GB" sz="1700" b="1" i="0" dirty="0">
                <a:solidFill>
                  <a:srgbClr val="FFFFFF"/>
                </a:solidFill>
                <a:latin typeface="Calibri"/>
                <a:cs typeface="Calibri"/>
              </a:rPr>
              <a:t>Deny by default</a:t>
            </a:r>
          </a:p>
        </p:txBody>
      </p:sp>
      <p:sp>
        <p:nvSpPr>
          <p:cNvPr id="8" name="t8"/>
          <p:cNvSpPr txBox="1"/>
          <p:nvPr/>
        </p:nvSpPr>
        <p:spPr>
          <a:xfrm>
            <a:off x="822960" y="3145536"/>
            <a:ext cx="3008376" cy="1874520"/>
          </a:xfrm>
          <a:prstGeom prst="rect">
            <a:avLst/>
          </a:prstGeom>
          <a:noFill/>
        </p:spPr>
        <p:txBody>
          <a:bodyPr wrap="square" lIns="0" tIns="0" rIns="0" bIns="0" anchor="t">
            <a:normAutofit/>
          </a:bodyPr>
          <a:lstStyle/>
          <a:p>
            <a:pPr algn="l" marL="0" indent="0">
              <a:buNone/>
            </a:pPr>
            <a:r>
              <a:rPr lang="en-GB" sz="1250" b="0" i="0" dirty="0">
                <a:solidFill>
                  <a:srgbClr val="C8D8E4"/>
                </a:solidFill>
                <a:latin typeface="Calibri"/>
                <a:cs typeface="Calibri"/>
              </a:rPr>
              <a:t>Row-level security is enabled on every table holding landlord, tenant, payment, maintenance or message data. A row is readable only where a policy grants it.</a:t>
            </a:r>
          </a:p>
        </p:txBody>
      </p:sp>
      <p:sp>
        <p:nvSpPr>
          <p:cNvPr id="9" name="s9"/>
          <p:cNvSpPr/>
          <p:nvPr/>
        </p:nvSpPr>
        <p:spPr>
          <a:xfrm>
            <a:off x="4343400" y="2121408"/>
            <a:ext cx="3520440" cy="3035808"/>
          </a:xfrm>
          <a:prstGeom prst="roundRect">
            <a:avLst>
              <a:gd name="adj" fmla="val 3614"/>
            </a:avLst>
          </a:prstGeom>
          <a:solidFill>
            <a:srgbClr val="1B4F72"/>
          </a:solidFill>
          <a:ln>
            <a:noFill/>
          </a:ln>
        </p:spPr>
        <p:txBody>
          <a:bodyPr lIns="0" tIns="0" rIns="0" bIns="0" anchor="ctr"/>
          <a:lstStyle/>
          <a:p/>
        </p:txBody>
      </p:sp>
      <p:sp>
        <p:nvSpPr>
          <p:cNvPr id="10" name="t10"/>
          <p:cNvSpPr txBox="1"/>
          <p:nvPr/>
        </p:nvSpPr>
        <p:spPr>
          <a:xfrm>
            <a:off x="4599432" y="2340864"/>
            <a:ext cx="3008376" cy="292608"/>
          </a:xfrm>
          <a:prstGeom prst="rect">
            <a:avLst/>
          </a:prstGeom>
          <a:noFill/>
        </p:spPr>
        <p:txBody>
          <a:bodyPr wrap="square" lIns="0" tIns="0" rIns="0" bIns="0" anchor="t">
            <a:normAutofit/>
          </a:bodyPr>
          <a:lstStyle/>
          <a:p>
            <a:pPr algn="l" marL="0" indent="0">
              <a:buNone/>
            </a:pPr>
            <a:r>
              <a:rPr lang="en-GB" sz="1150" b="1" i="0" dirty="0">
                <a:solidFill>
                  <a:srgbClr val="FEA520"/>
                </a:solidFill>
                <a:latin typeface="Calibri"/>
                <a:cs typeface="Calibri"/>
              </a:rPr>
              <a:t>NFR-11</a:t>
            </a:r>
          </a:p>
        </p:txBody>
      </p:sp>
      <p:sp>
        <p:nvSpPr>
          <p:cNvPr id="11" name="t11"/>
          <p:cNvSpPr txBox="1"/>
          <p:nvPr/>
        </p:nvSpPr>
        <p:spPr>
          <a:xfrm>
            <a:off x="4599432" y="2651760"/>
            <a:ext cx="3008376" cy="402336"/>
          </a:xfrm>
          <a:prstGeom prst="rect">
            <a:avLst/>
          </a:prstGeom>
          <a:noFill/>
        </p:spPr>
        <p:txBody>
          <a:bodyPr wrap="square" lIns="0" tIns="0" rIns="0" bIns="0" anchor="t">
            <a:normAutofit/>
          </a:bodyPr>
          <a:lstStyle/>
          <a:p>
            <a:pPr algn="l" marL="0" indent="0">
              <a:buNone/>
            </a:pPr>
            <a:r>
              <a:rPr lang="en-GB" sz="1700" b="1" i="0" dirty="0">
                <a:solidFill>
                  <a:srgbClr val="FFFFFF"/>
                </a:solidFill>
                <a:latin typeface="Calibri"/>
                <a:cs typeface="Calibri"/>
              </a:rPr>
              <a:t>Portfolio isolation</a:t>
            </a:r>
          </a:p>
        </p:txBody>
      </p:sp>
      <p:sp>
        <p:nvSpPr>
          <p:cNvPr id="12" name="t12"/>
          <p:cNvSpPr txBox="1"/>
          <p:nvPr/>
        </p:nvSpPr>
        <p:spPr>
          <a:xfrm>
            <a:off x="4599432" y="3145536"/>
            <a:ext cx="3008376" cy="1874520"/>
          </a:xfrm>
          <a:prstGeom prst="rect">
            <a:avLst/>
          </a:prstGeom>
          <a:noFill/>
        </p:spPr>
        <p:txBody>
          <a:bodyPr wrap="square" lIns="0" tIns="0" rIns="0" bIns="0" anchor="t">
            <a:normAutofit/>
          </a:bodyPr>
          <a:lstStyle/>
          <a:p>
            <a:pPr algn="l" marL="0" indent="0">
              <a:buNone/>
            </a:pPr>
            <a:r>
              <a:rPr lang="en-GB" sz="1250" b="0" i="0" dirty="0">
                <a:solidFill>
                  <a:srgbClr val="C8D8E4"/>
                </a:solidFill>
                <a:latin typeface="Calibri"/>
                <a:cs typeface="Calibri"/>
              </a:rPr>
              <a:t>A landlord reads and modifies only their own records. A request for another landlord's data returns nothing and changes nothing — even when it is well formed and the identifier is valid.</a:t>
            </a:r>
          </a:p>
        </p:txBody>
      </p:sp>
      <p:sp>
        <p:nvSpPr>
          <p:cNvPr id="13" name="s13"/>
          <p:cNvSpPr/>
          <p:nvPr/>
        </p:nvSpPr>
        <p:spPr>
          <a:xfrm>
            <a:off x="8119872" y="2121408"/>
            <a:ext cx="3520440" cy="3035808"/>
          </a:xfrm>
          <a:prstGeom prst="roundRect">
            <a:avLst>
              <a:gd name="adj" fmla="val 3614"/>
            </a:avLst>
          </a:prstGeom>
          <a:solidFill>
            <a:srgbClr val="1B4F72"/>
          </a:solidFill>
          <a:ln>
            <a:noFill/>
          </a:ln>
        </p:spPr>
        <p:txBody>
          <a:bodyPr lIns="0" tIns="0" rIns="0" bIns="0" anchor="ctr"/>
          <a:lstStyle/>
          <a:p/>
        </p:txBody>
      </p:sp>
      <p:sp>
        <p:nvSpPr>
          <p:cNvPr id="14" name="t14"/>
          <p:cNvSpPr txBox="1"/>
          <p:nvPr/>
        </p:nvSpPr>
        <p:spPr>
          <a:xfrm>
            <a:off x="8375904" y="2340864"/>
            <a:ext cx="3008376" cy="292608"/>
          </a:xfrm>
          <a:prstGeom prst="rect">
            <a:avLst/>
          </a:prstGeom>
          <a:noFill/>
        </p:spPr>
        <p:txBody>
          <a:bodyPr wrap="square" lIns="0" tIns="0" rIns="0" bIns="0" anchor="t">
            <a:normAutofit/>
          </a:bodyPr>
          <a:lstStyle/>
          <a:p>
            <a:pPr algn="l" marL="0" indent="0">
              <a:buNone/>
            </a:pPr>
            <a:r>
              <a:rPr lang="en-GB" sz="1150" b="1" i="0" dirty="0">
                <a:solidFill>
                  <a:srgbClr val="FEA520"/>
                </a:solidFill>
                <a:latin typeface="Calibri"/>
                <a:cs typeface="Calibri"/>
              </a:rPr>
              <a:t>NFR-13</a:t>
            </a:r>
          </a:p>
        </p:txBody>
      </p:sp>
      <p:sp>
        <p:nvSpPr>
          <p:cNvPr id="15" name="t15"/>
          <p:cNvSpPr txBox="1"/>
          <p:nvPr/>
        </p:nvSpPr>
        <p:spPr>
          <a:xfrm>
            <a:off x="8375904" y="2651760"/>
            <a:ext cx="3008376" cy="402336"/>
          </a:xfrm>
          <a:prstGeom prst="rect">
            <a:avLst/>
          </a:prstGeom>
          <a:noFill/>
        </p:spPr>
        <p:txBody>
          <a:bodyPr wrap="square" lIns="0" tIns="0" rIns="0" bIns="0" anchor="t">
            <a:normAutofit/>
          </a:bodyPr>
          <a:lstStyle/>
          <a:p>
            <a:pPr algn="l" marL="0" indent="0">
              <a:buNone/>
            </a:pPr>
            <a:r>
              <a:rPr lang="en-GB" sz="1700" b="1" i="0" dirty="0">
                <a:solidFill>
                  <a:srgbClr val="FFFFFF"/>
                </a:solidFill>
                <a:latin typeface="Calibri"/>
                <a:cs typeface="Calibri"/>
              </a:rPr>
              <a:t>Decided on the server</a:t>
            </a:r>
          </a:p>
        </p:txBody>
      </p:sp>
      <p:sp>
        <p:nvSpPr>
          <p:cNvPr id="16" name="t16"/>
          <p:cNvSpPr txBox="1"/>
          <p:nvPr/>
        </p:nvSpPr>
        <p:spPr>
          <a:xfrm>
            <a:off x="8375904" y="3145536"/>
            <a:ext cx="3008376" cy="1874520"/>
          </a:xfrm>
          <a:prstGeom prst="rect">
            <a:avLst/>
          </a:prstGeom>
          <a:noFill/>
        </p:spPr>
        <p:txBody>
          <a:bodyPr wrap="square" lIns="0" tIns="0" rIns="0" bIns="0" anchor="t">
            <a:normAutofit/>
          </a:bodyPr>
          <a:lstStyle/>
          <a:p>
            <a:pPr algn="l" marL="0" indent="0">
              <a:buNone/>
            </a:pPr>
            <a:r>
              <a:rPr lang="en-GB" sz="1250" b="0" i="0" dirty="0">
                <a:solidFill>
                  <a:srgbClr val="C8D8E4"/>
                </a:solidFill>
                <a:latin typeface="Calibri"/>
                <a:cs typeface="Calibri"/>
              </a:rPr>
              <a:t>No authorisation decision depends on a value from the browser. Changing client-side state cannot widen what a user can reach.</a:t>
            </a:r>
          </a:p>
        </p:txBody>
      </p:sp>
      <p:sp>
        <p:nvSpPr>
          <p:cNvPr id="17" name="t17"/>
          <p:cNvSpPr txBox="1"/>
          <p:nvPr/>
        </p:nvSpPr>
        <p:spPr>
          <a:xfrm>
            <a:off x="566928" y="5504688"/>
            <a:ext cx="11057839" cy="411480"/>
          </a:xfrm>
          <a:prstGeom prst="rect">
            <a:avLst/>
          </a:prstGeom>
          <a:noFill/>
        </p:spPr>
        <p:txBody>
          <a:bodyPr wrap="square" lIns="0" tIns="0" rIns="0" bIns="0" anchor="t">
            <a:normAutofit/>
          </a:bodyPr>
          <a:lstStyle/>
          <a:p>
            <a:pPr algn="l" marL="0" indent="0">
              <a:buNone/>
            </a:pPr>
            <a:r>
              <a:rPr lang="en-GB" sz="1300" b="0" i="1" dirty="0">
                <a:solidFill>
                  <a:srgbClr val="C8D8E4"/>
                </a:solidFill>
                <a:latin typeface="Calibri"/>
                <a:cs typeface="Calibri"/>
              </a:rPr>
              <a:t>Tenant data is personal data. Botswana's Data Protection Act 2018 is recorded as a constraint (CON-10), not an afterthought.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2"/>
          <p:cNvSpPr txBox="1"/>
          <p:nvPr/>
        </p:nvSpPr>
        <p:spPr>
          <a:xfrm>
            <a:off x="566928" y="365760"/>
            <a:ext cx="11057839" cy="292608"/>
          </a:xfrm>
          <a:prstGeom prst="rect">
            <a:avLst/>
          </a:prstGeom>
          <a:noFill/>
        </p:spPr>
        <p:txBody>
          <a:bodyPr wrap="square" lIns="0" tIns="0" rIns="0" bIns="0" anchor="t">
            <a:normAutofit/>
          </a:bodyPr>
          <a:lstStyle/>
          <a:p>
            <a:pPr algn="l" marL="0" indent="0">
              <a:buNone/>
            </a:pPr>
            <a:r>
              <a:rPr lang="en-GB" sz="1200" b="1" i="0" spc="200" dirty="0">
                <a:solidFill>
                  <a:srgbClr val="FEA520"/>
                </a:solidFill>
                <a:latin typeface="Calibri"/>
                <a:cs typeface="Calibri"/>
              </a:rPr>
              <a:t>QUALITY OF THE REQUIREMENTS</a:t>
            </a:r>
          </a:p>
        </p:txBody>
      </p:sp>
      <p:sp>
        <p:nvSpPr>
          <p:cNvPr id="3" name="t3"/>
          <p:cNvSpPr txBox="1"/>
          <p:nvPr/>
        </p:nvSpPr>
        <p:spPr>
          <a:xfrm>
            <a:off x="566928" y="658368"/>
            <a:ext cx="11057839" cy="694944"/>
          </a:xfrm>
          <a:prstGeom prst="rect">
            <a:avLst/>
          </a:prstGeom>
          <a:noFill/>
        </p:spPr>
        <p:txBody>
          <a:bodyPr wrap="square" lIns="0" tIns="0" rIns="0" bIns="0" anchor="t">
            <a:normAutofit/>
          </a:bodyPr>
          <a:lstStyle/>
          <a:p>
            <a:pPr algn="l" marL="0" indent="0">
              <a:buNone/>
            </a:pPr>
            <a:r>
              <a:rPr lang="en-GB" sz="3200" b="1" i="0" dirty="0">
                <a:solidFill>
                  <a:srgbClr val="003857"/>
                </a:solidFill>
                <a:latin typeface="Calibri"/>
                <a:cs typeface="Calibri"/>
              </a:rPr>
              <a:t>Measurable, not vague</a:t>
            </a:r>
          </a:p>
        </p:txBody>
      </p:sp>
      <p:sp>
        <p:nvSpPr>
          <p:cNvPr id="4" name="t4"/>
          <p:cNvSpPr txBox="1"/>
          <p:nvPr/>
        </p:nvSpPr>
        <p:spPr>
          <a:xfrm>
            <a:off x="566928" y="1353312"/>
            <a:ext cx="11057839" cy="365760"/>
          </a:xfrm>
          <a:prstGeom prst="rect">
            <a:avLst/>
          </a:prstGeom>
          <a:noFill/>
        </p:spPr>
        <p:txBody>
          <a:bodyPr wrap="square" lIns="0" tIns="0" rIns="0" bIns="0" anchor="t">
            <a:normAutofit/>
          </a:bodyPr>
          <a:lstStyle/>
          <a:p>
            <a:pPr algn="l" marL="0" indent="0">
              <a:buNone/>
            </a:pPr>
            <a:r>
              <a:rPr lang="en-GB" sz="1450" b="0" i="0" dirty="0">
                <a:solidFill>
                  <a:srgbClr val="5A6570"/>
                </a:solidFill>
                <a:latin typeface="Calibri"/>
                <a:cs typeface="Calibri"/>
              </a:rPr>
              <a:t>Every non-functional requirement states a criterion that can be tested rather than argued about.</a:t>
            </a:r>
          </a:p>
        </p:txBody>
      </p:sp>
      <p:sp>
        <p:nvSpPr>
          <p:cNvPr id="5" name="t5"/>
          <p:cNvSpPr txBox="1"/>
          <p:nvPr/>
        </p:nvSpPr>
        <p:spPr>
          <a:xfrm>
            <a:off x="822960" y="1810512"/>
            <a:ext cx="4023360" cy="292608"/>
          </a:xfrm>
          <a:prstGeom prst="rect">
            <a:avLst/>
          </a:prstGeom>
          <a:noFill/>
        </p:spPr>
        <p:txBody>
          <a:bodyPr wrap="square" lIns="0" tIns="0" rIns="0" bIns="0" anchor="t">
            <a:normAutofit/>
          </a:bodyPr>
          <a:lstStyle/>
          <a:p>
            <a:pPr algn="l" marL="0" indent="0">
              <a:buNone/>
            </a:pPr>
            <a:r>
              <a:rPr lang="en-GB" sz="1200" b="1" i="0" spc="150" dirty="0">
                <a:solidFill>
                  <a:srgbClr val="5A6570"/>
                </a:solidFill>
                <a:latin typeface="Calibri"/>
                <a:cs typeface="Calibri"/>
              </a:rPr>
              <a:t>AVOIDED</a:t>
            </a:r>
          </a:p>
        </p:txBody>
      </p:sp>
      <p:sp>
        <p:nvSpPr>
          <p:cNvPr id="6" name="t6"/>
          <p:cNvSpPr txBox="1"/>
          <p:nvPr/>
        </p:nvSpPr>
        <p:spPr>
          <a:xfrm>
            <a:off x="5577840" y="1810512"/>
            <a:ext cx="6035040" cy="292608"/>
          </a:xfrm>
          <a:prstGeom prst="rect">
            <a:avLst/>
          </a:prstGeom>
          <a:noFill/>
        </p:spPr>
        <p:txBody>
          <a:bodyPr wrap="square" lIns="0" tIns="0" rIns="0" bIns="0" anchor="t">
            <a:normAutofit/>
          </a:bodyPr>
          <a:lstStyle/>
          <a:p>
            <a:pPr algn="l" marL="0" indent="0">
              <a:buNone/>
            </a:pPr>
            <a:r>
              <a:rPr lang="en-GB" sz="1200" b="1" i="0" spc="150" dirty="0">
                <a:solidFill>
                  <a:srgbClr val="003857"/>
                </a:solidFill>
                <a:latin typeface="Calibri"/>
                <a:cs typeface="Calibri"/>
              </a:rPr>
              <a:t>SPECIFIED INSTEAD</a:t>
            </a:r>
          </a:p>
        </p:txBody>
      </p:sp>
      <p:sp>
        <p:nvSpPr>
          <p:cNvPr id="7" name="s7"/>
          <p:cNvSpPr/>
          <p:nvPr/>
        </p:nvSpPr>
        <p:spPr>
          <a:xfrm>
            <a:off x="566928" y="2194560"/>
            <a:ext cx="4617720" cy="822960"/>
          </a:xfrm>
          <a:prstGeom prst="roundRect">
            <a:avLst>
              <a:gd name="adj" fmla="val 10000"/>
            </a:avLst>
          </a:prstGeom>
          <a:solidFill>
            <a:srgbClr val="FAFBFC"/>
          </a:solidFill>
          <a:ln w="12700">
            <a:solidFill>
              <a:srgbClr val="DCE3E9"/>
            </a:solidFill>
          </a:ln>
        </p:spPr>
        <p:txBody>
          <a:bodyPr lIns="0" tIns="0" rIns="0" bIns="0" anchor="ctr"/>
          <a:lstStyle/>
          <a:p/>
        </p:txBody>
      </p:sp>
      <p:sp>
        <p:nvSpPr>
          <p:cNvPr id="8" name="t8"/>
          <p:cNvSpPr txBox="1"/>
          <p:nvPr/>
        </p:nvSpPr>
        <p:spPr>
          <a:xfrm>
            <a:off x="804672" y="2194560"/>
            <a:ext cx="4160520" cy="822960"/>
          </a:xfrm>
          <a:prstGeom prst="rect">
            <a:avLst/>
          </a:prstGeom>
          <a:noFill/>
        </p:spPr>
        <p:txBody>
          <a:bodyPr wrap="square" lIns="0" tIns="0" rIns="0" bIns="0" anchor="ctr">
            <a:normAutofit/>
          </a:bodyPr>
          <a:lstStyle/>
          <a:p>
            <a:pPr algn="l" marL="0" indent="0">
              <a:buNone/>
            </a:pPr>
            <a:r>
              <a:rPr lang="en-GB" sz="1300" b="0" i="1" dirty="0">
                <a:solidFill>
                  <a:srgbClr val="5A6570"/>
                </a:solidFill>
                <a:latin typeface="Calibri"/>
                <a:cs typeface="Calibri"/>
              </a:rPr>
              <a:t>"The system should be fast"</a:t>
            </a:r>
          </a:p>
        </p:txBody>
      </p:sp>
      <p:sp>
        <p:nvSpPr>
          <p:cNvPr id="9" name="t9"/>
          <p:cNvSpPr txBox="1"/>
          <p:nvPr/>
        </p:nvSpPr>
        <p:spPr>
          <a:xfrm>
            <a:off x="5230368" y="2340864"/>
            <a:ext cx="292608" cy="512064"/>
          </a:xfrm>
          <a:prstGeom prst="rect">
            <a:avLst/>
          </a:prstGeom>
          <a:noFill/>
        </p:spPr>
        <p:txBody>
          <a:bodyPr wrap="square" lIns="0" tIns="0" rIns="0" bIns="0" anchor="t">
            <a:normAutofit/>
          </a:bodyPr>
          <a:lstStyle/>
          <a:p>
            <a:pPr algn="ctr" marL="0" indent="0">
              <a:buNone/>
            </a:pPr>
            <a:r>
              <a:rPr lang="en-GB" sz="2300" b="1" i="0" dirty="0">
                <a:solidFill>
                  <a:srgbClr val="FEA520"/>
                </a:solidFill>
                <a:latin typeface="Calibri"/>
                <a:cs typeface="Calibri"/>
              </a:rPr>
              <a:t>›</a:t>
            </a:r>
          </a:p>
        </p:txBody>
      </p:sp>
      <p:sp>
        <p:nvSpPr>
          <p:cNvPr id="10" name="s10"/>
          <p:cNvSpPr/>
          <p:nvPr/>
        </p:nvSpPr>
        <p:spPr>
          <a:xfrm>
            <a:off x="5577840" y="2194560"/>
            <a:ext cx="6044184" cy="822960"/>
          </a:xfrm>
          <a:prstGeom prst="roundRect">
            <a:avLst>
              <a:gd name="adj" fmla="val 10000"/>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1" name="s11"/>
          <p:cNvSpPr/>
          <p:nvPr/>
        </p:nvSpPr>
        <p:spPr>
          <a:xfrm>
            <a:off x="5760720" y="2404872"/>
            <a:ext cx="841248" cy="393192"/>
          </a:xfrm>
          <a:prstGeom prst="roundRect">
            <a:avLst>
              <a:gd name="adj" fmla="val 16279"/>
            </a:avLst>
          </a:prstGeom>
          <a:solidFill>
            <a:srgbClr val="003857"/>
          </a:solidFill>
          <a:ln>
            <a:noFill/>
          </a:ln>
        </p:spPr>
        <p:txBody>
          <a:bodyPr lIns="0" tIns="0" rIns="0" bIns="0" anchor="ctr"/>
          <a:lstStyle/>
          <a:p/>
        </p:txBody>
      </p:sp>
      <p:sp>
        <p:nvSpPr>
          <p:cNvPr id="12" name="t12"/>
          <p:cNvSpPr txBox="1"/>
          <p:nvPr/>
        </p:nvSpPr>
        <p:spPr>
          <a:xfrm>
            <a:off x="5760720" y="2404872"/>
            <a:ext cx="841248" cy="393192"/>
          </a:xfrm>
          <a:prstGeom prst="rect">
            <a:avLst/>
          </a:prstGeom>
          <a:noFill/>
        </p:spPr>
        <p:txBody>
          <a:bodyPr wrap="square" lIns="0" tIns="0" rIns="0" bIns="0" anchor="ctr">
            <a:normAutofit/>
          </a:bodyPr>
          <a:lstStyle/>
          <a:p>
            <a:pPr algn="ctr" marL="0" indent="0">
              <a:buNone/>
            </a:pPr>
            <a:r>
              <a:rPr lang="en-GB" sz="1050" b="1" i="0" dirty="0">
                <a:solidFill>
                  <a:srgbClr val="FEA520"/>
                </a:solidFill>
                <a:latin typeface="Calibri"/>
                <a:cs typeface="Calibri"/>
              </a:rPr>
              <a:t>NFR-01</a:t>
            </a:r>
          </a:p>
        </p:txBody>
      </p:sp>
      <p:sp>
        <p:nvSpPr>
          <p:cNvPr id="13" name="t13"/>
          <p:cNvSpPr txBox="1"/>
          <p:nvPr/>
        </p:nvSpPr>
        <p:spPr>
          <a:xfrm>
            <a:off x="6711696" y="2240280"/>
            <a:ext cx="4773168" cy="731520"/>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The dashboard becomes interactive within 2.5 seconds at the 95th percentile, for up to 20 properties and 200 units</a:t>
            </a:r>
          </a:p>
        </p:txBody>
      </p:sp>
      <p:sp>
        <p:nvSpPr>
          <p:cNvPr id="14" name="s14"/>
          <p:cNvSpPr/>
          <p:nvPr/>
        </p:nvSpPr>
        <p:spPr>
          <a:xfrm>
            <a:off x="566928" y="3145536"/>
            <a:ext cx="4617720" cy="822960"/>
          </a:xfrm>
          <a:prstGeom prst="roundRect">
            <a:avLst>
              <a:gd name="adj" fmla="val 10000"/>
            </a:avLst>
          </a:prstGeom>
          <a:solidFill>
            <a:srgbClr val="FAFBFC"/>
          </a:solidFill>
          <a:ln w="12700">
            <a:solidFill>
              <a:srgbClr val="DCE3E9"/>
            </a:solidFill>
          </a:ln>
        </p:spPr>
        <p:txBody>
          <a:bodyPr lIns="0" tIns="0" rIns="0" bIns="0" anchor="ctr"/>
          <a:lstStyle/>
          <a:p/>
        </p:txBody>
      </p:sp>
      <p:sp>
        <p:nvSpPr>
          <p:cNvPr id="15" name="t15"/>
          <p:cNvSpPr txBox="1"/>
          <p:nvPr/>
        </p:nvSpPr>
        <p:spPr>
          <a:xfrm>
            <a:off x="804672" y="3145536"/>
            <a:ext cx="4160520" cy="822960"/>
          </a:xfrm>
          <a:prstGeom prst="rect">
            <a:avLst/>
          </a:prstGeom>
          <a:noFill/>
        </p:spPr>
        <p:txBody>
          <a:bodyPr wrap="square" lIns="0" tIns="0" rIns="0" bIns="0" anchor="ctr">
            <a:normAutofit/>
          </a:bodyPr>
          <a:lstStyle/>
          <a:p>
            <a:pPr algn="l" marL="0" indent="0">
              <a:buNone/>
            </a:pPr>
            <a:r>
              <a:rPr lang="en-GB" sz="1300" b="0" i="1" dirty="0">
                <a:solidFill>
                  <a:srgbClr val="5A6570"/>
                </a:solidFill>
                <a:latin typeface="Calibri"/>
                <a:cs typeface="Calibri"/>
              </a:rPr>
              <a:t>"It should be user-friendly"</a:t>
            </a:r>
          </a:p>
        </p:txBody>
      </p:sp>
      <p:sp>
        <p:nvSpPr>
          <p:cNvPr id="16" name="t16"/>
          <p:cNvSpPr txBox="1"/>
          <p:nvPr/>
        </p:nvSpPr>
        <p:spPr>
          <a:xfrm>
            <a:off x="5230368" y="3291840"/>
            <a:ext cx="292608" cy="512064"/>
          </a:xfrm>
          <a:prstGeom prst="rect">
            <a:avLst/>
          </a:prstGeom>
          <a:noFill/>
        </p:spPr>
        <p:txBody>
          <a:bodyPr wrap="square" lIns="0" tIns="0" rIns="0" bIns="0" anchor="t">
            <a:normAutofit/>
          </a:bodyPr>
          <a:lstStyle/>
          <a:p>
            <a:pPr algn="ctr" marL="0" indent="0">
              <a:buNone/>
            </a:pPr>
            <a:r>
              <a:rPr lang="en-GB" sz="2300" b="1" i="0" dirty="0">
                <a:solidFill>
                  <a:srgbClr val="FEA520"/>
                </a:solidFill>
                <a:latin typeface="Calibri"/>
                <a:cs typeface="Calibri"/>
              </a:rPr>
              <a:t>›</a:t>
            </a:r>
          </a:p>
        </p:txBody>
      </p:sp>
      <p:sp>
        <p:nvSpPr>
          <p:cNvPr id="17" name="s17"/>
          <p:cNvSpPr/>
          <p:nvPr/>
        </p:nvSpPr>
        <p:spPr>
          <a:xfrm>
            <a:off x="5577840" y="3145536"/>
            <a:ext cx="6044184" cy="822960"/>
          </a:xfrm>
          <a:prstGeom prst="roundRect">
            <a:avLst>
              <a:gd name="adj" fmla="val 10000"/>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8" name="s18"/>
          <p:cNvSpPr/>
          <p:nvPr/>
        </p:nvSpPr>
        <p:spPr>
          <a:xfrm>
            <a:off x="5760720" y="3355848"/>
            <a:ext cx="841248" cy="393192"/>
          </a:xfrm>
          <a:prstGeom prst="roundRect">
            <a:avLst>
              <a:gd name="adj" fmla="val 16279"/>
            </a:avLst>
          </a:prstGeom>
          <a:solidFill>
            <a:srgbClr val="003857"/>
          </a:solidFill>
          <a:ln>
            <a:noFill/>
          </a:ln>
        </p:spPr>
        <p:txBody>
          <a:bodyPr lIns="0" tIns="0" rIns="0" bIns="0" anchor="ctr"/>
          <a:lstStyle/>
          <a:p/>
        </p:txBody>
      </p:sp>
      <p:sp>
        <p:nvSpPr>
          <p:cNvPr id="19" name="t19"/>
          <p:cNvSpPr txBox="1"/>
          <p:nvPr/>
        </p:nvSpPr>
        <p:spPr>
          <a:xfrm>
            <a:off x="5760720" y="3355848"/>
            <a:ext cx="841248" cy="393192"/>
          </a:xfrm>
          <a:prstGeom prst="rect">
            <a:avLst/>
          </a:prstGeom>
          <a:noFill/>
        </p:spPr>
        <p:txBody>
          <a:bodyPr wrap="square" lIns="0" tIns="0" rIns="0" bIns="0" anchor="ctr">
            <a:normAutofit/>
          </a:bodyPr>
          <a:lstStyle/>
          <a:p>
            <a:pPr algn="ctr" marL="0" indent="0">
              <a:buNone/>
            </a:pPr>
            <a:r>
              <a:rPr lang="en-GB" sz="1050" b="1" i="0" dirty="0">
                <a:solidFill>
                  <a:srgbClr val="FEA520"/>
                </a:solidFill>
                <a:latin typeface="Calibri"/>
                <a:cs typeface="Calibri"/>
              </a:rPr>
              <a:t>NFR-23</a:t>
            </a:r>
          </a:p>
        </p:txBody>
      </p:sp>
      <p:sp>
        <p:nvSpPr>
          <p:cNvPr id="20" name="t20"/>
          <p:cNvSpPr txBox="1"/>
          <p:nvPr/>
        </p:nvSpPr>
        <p:spPr>
          <a:xfrm>
            <a:off x="6711696" y="3191256"/>
            <a:ext cx="4773168" cy="731520"/>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A new landlord completes onboarding in 10 minutes without training — 4 of 5 test participants succeed</a:t>
            </a:r>
          </a:p>
        </p:txBody>
      </p:sp>
      <p:sp>
        <p:nvSpPr>
          <p:cNvPr id="21" name="s21"/>
          <p:cNvSpPr/>
          <p:nvPr/>
        </p:nvSpPr>
        <p:spPr>
          <a:xfrm>
            <a:off x="566928" y="4096512"/>
            <a:ext cx="4617720" cy="822960"/>
          </a:xfrm>
          <a:prstGeom prst="roundRect">
            <a:avLst>
              <a:gd name="adj" fmla="val 10000"/>
            </a:avLst>
          </a:prstGeom>
          <a:solidFill>
            <a:srgbClr val="FAFBFC"/>
          </a:solidFill>
          <a:ln w="12700">
            <a:solidFill>
              <a:srgbClr val="DCE3E9"/>
            </a:solidFill>
          </a:ln>
        </p:spPr>
        <p:txBody>
          <a:bodyPr lIns="0" tIns="0" rIns="0" bIns="0" anchor="ctr"/>
          <a:lstStyle/>
          <a:p/>
        </p:txBody>
      </p:sp>
      <p:sp>
        <p:nvSpPr>
          <p:cNvPr id="22" name="t22"/>
          <p:cNvSpPr txBox="1"/>
          <p:nvPr/>
        </p:nvSpPr>
        <p:spPr>
          <a:xfrm>
            <a:off x="804672" y="4096512"/>
            <a:ext cx="4160520" cy="822960"/>
          </a:xfrm>
          <a:prstGeom prst="rect">
            <a:avLst/>
          </a:prstGeom>
          <a:noFill/>
        </p:spPr>
        <p:txBody>
          <a:bodyPr wrap="square" lIns="0" tIns="0" rIns="0" bIns="0" anchor="ctr">
            <a:normAutofit/>
          </a:bodyPr>
          <a:lstStyle/>
          <a:p>
            <a:pPr algn="l" marL="0" indent="0">
              <a:buNone/>
            </a:pPr>
            <a:r>
              <a:rPr lang="en-GB" sz="1300" b="0" i="1" dirty="0">
                <a:solidFill>
                  <a:srgbClr val="5A6570"/>
                </a:solidFill>
                <a:latin typeface="Calibri"/>
                <a:cs typeface="Calibri"/>
              </a:rPr>
              <a:t>"It should be reliable"</a:t>
            </a:r>
          </a:p>
        </p:txBody>
      </p:sp>
      <p:sp>
        <p:nvSpPr>
          <p:cNvPr id="23" name="t23"/>
          <p:cNvSpPr txBox="1"/>
          <p:nvPr/>
        </p:nvSpPr>
        <p:spPr>
          <a:xfrm>
            <a:off x="5230368" y="4242816"/>
            <a:ext cx="292608" cy="512064"/>
          </a:xfrm>
          <a:prstGeom prst="rect">
            <a:avLst/>
          </a:prstGeom>
          <a:noFill/>
        </p:spPr>
        <p:txBody>
          <a:bodyPr wrap="square" lIns="0" tIns="0" rIns="0" bIns="0" anchor="t">
            <a:normAutofit/>
          </a:bodyPr>
          <a:lstStyle/>
          <a:p>
            <a:pPr algn="ctr" marL="0" indent="0">
              <a:buNone/>
            </a:pPr>
            <a:r>
              <a:rPr lang="en-GB" sz="2300" b="1" i="0" dirty="0">
                <a:solidFill>
                  <a:srgbClr val="FEA520"/>
                </a:solidFill>
                <a:latin typeface="Calibri"/>
                <a:cs typeface="Calibri"/>
              </a:rPr>
              <a:t>›</a:t>
            </a:r>
          </a:p>
        </p:txBody>
      </p:sp>
      <p:sp>
        <p:nvSpPr>
          <p:cNvPr id="24" name="s24"/>
          <p:cNvSpPr/>
          <p:nvPr/>
        </p:nvSpPr>
        <p:spPr>
          <a:xfrm>
            <a:off x="5577840" y="4096512"/>
            <a:ext cx="6044184" cy="822960"/>
          </a:xfrm>
          <a:prstGeom prst="roundRect">
            <a:avLst>
              <a:gd name="adj" fmla="val 10000"/>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25" name="s25"/>
          <p:cNvSpPr/>
          <p:nvPr/>
        </p:nvSpPr>
        <p:spPr>
          <a:xfrm>
            <a:off x="5760720" y="4306824"/>
            <a:ext cx="841248" cy="393192"/>
          </a:xfrm>
          <a:prstGeom prst="roundRect">
            <a:avLst>
              <a:gd name="adj" fmla="val 16279"/>
            </a:avLst>
          </a:prstGeom>
          <a:solidFill>
            <a:srgbClr val="003857"/>
          </a:solidFill>
          <a:ln>
            <a:noFill/>
          </a:ln>
        </p:spPr>
        <p:txBody>
          <a:bodyPr lIns="0" tIns="0" rIns="0" bIns="0" anchor="ctr"/>
          <a:lstStyle/>
          <a:p/>
        </p:txBody>
      </p:sp>
      <p:sp>
        <p:nvSpPr>
          <p:cNvPr id="26" name="t26"/>
          <p:cNvSpPr txBox="1"/>
          <p:nvPr/>
        </p:nvSpPr>
        <p:spPr>
          <a:xfrm>
            <a:off x="5760720" y="4306824"/>
            <a:ext cx="841248" cy="393192"/>
          </a:xfrm>
          <a:prstGeom prst="rect">
            <a:avLst/>
          </a:prstGeom>
          <a:noFill/>
        </p:spPr>
        <p:txBody>
          <a:bodyPr wrap="square" lIns="0" tIns="0" rIns="0" bIns="0" anchor="ctr">
            <a:normAutofit/>
          </a:bodyPr>
          <a:lstStyle/>
          <a:p>
            <a:pPr algn="ctr" marL="0" indent="0">
              <a:buNone/>
            </a:pPr>
            <a:r>
              <a:rPr lang="en-GB" sz="1050" b="1" i="0" dirty="0">
                <a:solidFill>
                  <a:srgbClr val="FEA520"/>
                </a:solidFill>
                <a:latin typeface="Calibri"/>
                <a:cs typeface="Calibri"/>
              </a:rPr>
              <a:t>NFR-29</a:t>
            </a:r>
          </a:p>
        </p:txBody>
      </p:sp>
      <p:sp>
        <p:nvSpPr>
          <p:cNvPr id="27" name="t27"/>
          <p:cNvSpPr txBox="1"/>
          <p:nvPr/>
        </p:nvSpPr>
        <p:spPr>
          <a:xfrm>
            <a:off x="6711696" y="4142232"/>
            <a:ext cx="4773168" cy="731520"/>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99.5% availability each calendar month, outside announced maintenance</a:t>
            </a:r>
          </a:p>
        </p:txBody>
      </p:sp>
      <p:sp>
        <p:nvSpPr>
          <p:cNvPr id="28" name="s28"/>
          <p:cNvSpPr/>
          <p:nvPr/>
        </p:nvSpPr>
        <p:spPr>
          <a:xfrm>
            <a:off x="566928" y="5047488"/>
            <a:ext cx="4617720" cy="822960"/>
          </a:xfrm>
          <a:prstGeom prst="roundRect">
            <a:avLst>
              <a:gd name="adj" fmla="val 10000"/>
            </a:avLst>
          </a:prstGeom>
          <a:solidFill>
            <a:srgbClr val="FAFBFC"/>
          </a:solidFill>
          <a:ln w="12700">
            <a:solidFill>
              <a:srgbClr val="DCE3E9"/>
            </a:solidFill>
          </a:ln>
        </p:spPr>
        <p:txBody>
          <a:bodyPr lIns="0" tIns="0" rIns="0" bIns="0" anchor="ctr"/>
          <a:lstStyle/>
          <a:p/>
        </p:txBody>
      </p:sp>
      <p:sp>
        <p:nvSpPr>
          <p:cNvPr id="29" name="t29"/>
          <p:cNvSpPr txBox="1"/>
          <p:nvPr/>
        </p:nvSpPr>
        <p:spPr>
          <a:xfrm>
            <a:off x="804672" y="5047488"/>
            <a:ext cx="4160520" cy="822960"/>
          </a:xfrm>
          <a:prstGeom prst="rect">
            <a:avLst/>
          </a:prstGeom>
          <a:noFill/>
        </p:spPr>
        <p:txBody>
          <a:bodyPr wrap="square" lIns="0" tIns="0" rIns="0" bIns="0" anchor="ctr">
            <a:normAutofit/>
          </a:bodyPr>
          <a:lstStyle/>
          <a:p>
            <a:pPr algn="l" marL="0" indent="0">
              <a:buNone/>
            </a:pPr>
            <a:r>
              <a:rPr lang="en-GB" sz="1300" b="0" i="1" dirty="0">
                <a:solidFill>
                  <a:srgbClr val="5A6570"/>
                </a:solidFill>
                <a:latin typeface="Calibri"/>
                <a:cs typeface="Calibri"/>
              </a:rPr>
              <a:t>"It should be accessible"</a:t>
            </a:r>
          </a:p>
        </p:txBody>
      </p:sp>
      <p:sp>
        <p:nvSpPr>
          <p:cNvPr id="30" name="t30"/>
          <p:cNvSpPr txBox="1"/>
          <p:nvPr/>
        </p:nvSpPr>
        <p:spPr>
          <a:xfrm>
            <a:off x="5230368" y="5193792"/>
            <a:ext cx="292608" cy="512064"/>
          </a:xfrm>
          <a:prstGeom prst="rect">
            <a:avLst/>
          </a:prstGeom>
          <a:noFill/>
        </p:spPr>
        <p:txBody>
          <a:bodyPr wrap="square" lIns="0" tIns="0" rIns="0" bIns="0" anchor="t">
            <a:normAutofit/>
          </a:bodyPr>
          <a:lstStyle/>
          <a:p>
            <a:pPr algn="ctr" marL="0" indent="0">
              <a:buNone/>
            </a:pPr>
            <a:r>
              <a:rPr lang="en-GB" sz="2300" b="1" i="0" dirty="0">
                <a:solidFill>
                  <a:srgbClr val="FEA520"/>
                </a:solidFill>
                <a:latin typeface="Calibri"/>
                <a:cs typeface="Calibri"/>
              </a:rPr>
              <a:t>›</a:t>
            </a:r>
          </a:p>
        </p:txBody>
      </p:sp>
      <p:sp>
        <p:nvSpPr>
          <p:cNvPr id="31" name="s31"/>
          <p:cNvSpPr/>
          <p:nvPr/>
        </p:nvSpPr>
        <p:spPr>
          <a:xfrm>
            <a:off x="5577840" y="5047488"/>
            <a:ext cx="6044184" cy="822960"/>
          </a:xfrm>
          <a:prstGeom prst="roundRect">
            <a:avLst>
              <a:gd name="adj" fmla="val 10000"/>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32" name="s32"/>
          <p:cNvSpPr/>
          <p:nvPr/>
        </p:nvSpPr>
        <p:spPr>
          <a:xfrm>
            <a:off x="5760720" y="5257800"/>
            <a:ext cx="841248" cy="393192"/>
          </a:xfrm>
          <a:prstGeom prst="roundRect">
            <a:avLst>
              <a:gd name="adj" fmla="val 16279"/>
            </a:avLst>
          </a:prstGeom>
          <a:solidFill>
            <a:srgbClr val="003857"/>
          </a:solidFill>
          <a:ln>
            <a:noFill/>
          </a:ln>
        </p:spPr>
        <p:txBody>
          <a:bodyPr lIns="0" tIns="0" rIns="0" bIns="0" anchor="ctr"/>
          <a:lstStyle/>
          <a:p/>
        </p:txBody>
      </p:sp>
      <p:sp>
        <p:nvSpPr>
          <p:cNvPr id="33" name="t33"/>
          <p:cNvSpPr txBox="1"/>
          <p:nvPr/>
        </p:nvSpPr>
        <p:spPr>
          <a:xfrm>
            <a:off x="5760720" y="5257800"/>
            <a:ext cx="841248" cy="393192"/>
          </a:xfrm>
          <a:prstGeom prst="rect">
            <a:avLst/>
          </a:prstGeom>
          <a:noFill/>
        </p:spPr>
        <p:txBody>
          <a:bodyPr wrap="square" lIns="0" tIns="0" rIns="0" bIns="0" anchor="ctr">
            <a:normAutofit/>
          </a:bodyPr>
          <a:lstStyle/>
          <a:p>
            <a:pPr algn="ctr" marL="0" indent="0">
              <a:buNone/>
            </a:pPr>
            <a:r>
              <a:rPr lang="en-GB" sz="1050" b="1" i="0" dirty="0">
                <a:solidFill>
                  <a:srgbClr val="FEA520"/>
                </a:solidFill>
                <a:latin typeface="Calibri"/>
                <a:cs typeface="Calibri"/>
              </a:rPr>
              <a:t>NFR-24</a:t>
            </a:r>
          </a:p>
        </p:txBody>
      </p:sp>
      <p:sp>
        <p:nvSpPr>
          <p:cNvPr id="34" name="t34"/>
          <p:cNvSpPr txBox="1"/>
          <p:nvPr/>
        </p:nvSpPr>
        <p:spPr>
          <a:xfrm>
            <a:off x="6711696" y="5093208"/>
            <a:ext cx="4773168" cy="731520"/>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Contrast of at least 4.5:1 for normal text, meeting WCAG 2.1 level AA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2"/>
          <p:cNvSpPr txBox="1"/>
          <p:nvPr/>
        </p:nvSpPr>
        <p:spPr>
          <a:xfrm>
            <a:off x="566928" y="365760"/>
            <a:ext cx="11057839" cy="292608"/>
          </a:xfrm>
          <a:prstGeom prst="rect">
            <a:avLst/>
          </a:prstGeom>
          <a:noFill/>
        </p:spPr>
        <p:txBody>
          <a:bodyPr wrap="square" lIns="0" tIns="0" rIns="0" bIns="0" anchor="t">
            <a:normAutofit/>
          </a:bodyPr>
          <a:lstStyle/>
          <a:p>
            <a:pPr algn="l" marL="0" indent="0">
              <a:buNone/>
            </a:pPr>
            <a:r>
              <a:rPr lang="en-GB" sz="1200" b="1" i="0" spc="200" dirty="0">
                <a:solidFill>
                  <a:srgbClr val="FEA520"/>
                </a:solidFill>
                <a:latin typeface="Calibri"/>
                <a:cs typeface="Calibri"/>
              </a:rPr>
              <a:t>SECTION 3.5</a:t>
            </a:r>
          </a:p>
        </p:txBody>
      </p:sp>
      <p:sp>
        <p:nvSpPr>
          <p:cNvPr id="3" name="t3"/>
          <p:cNvSpPr txBox="1"/>
          <p:nvPr/>
        </p:nvSpPr>
        <p:spPr>
          <a:xfrm>
            <a:off x="566928" y="658368"/>
            <a:ext cx="11057839" cy="694944"/>
          </a:xfrm>
          <a:prstGeom prst="rect">
            <a:avLst/>
          </a:prstGeom>
          <a:noFill/>
        </p:spPr>
        <p:txBody>
          <a:bodyPr wrap="square" lIns="0" tIns="0" rIns="0" bIns="0" anchor="t">
            <a:normAutofit/>
          </a:bodyPr>
          <a:lstStyle/>
          <a:p>
            <a:pPr algn="l" marL="0" indent="0">
              <a:buNone/>
            </a:pPr>
            <a:r>
              <a:rPr lang="en-GB" sz="3200" b="1" i="0" dirty="0">
                <a:solidFill>
                  <a:srgbClr val="003857"/>
                </a:solidFill>
                <a:latin typeface="Calibri"/>
                <a:cs typeface="Calibri"/>
              </a:rPr>
              <a:t>What the SRS deliberately does not promise</a:t>
            </a:r>
          </a:p>
        </p:txBody>
      </p:sp>
      <p:sp>
        <p:nvSpPr>
          <p:cNvPr id="4" name="t4"/>
          <p:cNvSpPr txBox="1"/>
          <p:nvPr/>
        </p:nvSpPr>
        <p:spPr>
          <a:xfrm>
            <a:off x="566928" y="1353312"/>
            <a:ext cx="11057839" cy="402336"/>
          </a:xfrm>
          <a:prstGeom prst="rect">
            <a:avLst/>
          </a:prstGeom>
          <a:noFill/>
        </p:spPr>
        <p:txBody>
          <a:bodyPr wrap="square" lIns="0" tIns="0" rIns="0" bIns="0" anchor="t">
            <a:normAutofit/>
          </a:bodyPr>
          <a:lstStyle/>
          <a:p>
            <a:pPr algn="l" marL="0" indent="0">
              <a:buNone/>
            </a:pPr>
            <a:r>
              <a:rPr lang="en-GB" sz="1450" b="0" i="0" dirty="0">
                <a:solidFill>
                  <a:srgbClr val="5A6570"/>
                </a:solidFill>
                <a:latin typeface="Calibri"/>
                <a:cs typeface="Calibri"/>
              </a:rPr>
              <a:t>Nine capabilities are intended but excluded from this baseline. They carry their own identifiers so they are never mistaken for acceptance criteria.</a:t>
            </a:r>
          </a:p>
        </p:txBody>
      </p:sp>
      <p:sp>
        <p:nvSpPr>
          <p:cNvPr id="5" name="s5"/>
          <p:cNvSpPr/>
          <p:nvPr/>
        </p:nvSpPr>
        <p:spPr>
          <a:xfrm>
            <a:off x="566928" y="1865376"/>
            <a:ext cx="3520440" cy="905256"/>
          </a:xfrm>
          <a:prstGeom prst="roundRect">
            <a:avLst>
              <a:gd name="adj" fmla="val 10101"/>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6" name="s6"/>
          <p:cNvSpPr/>
          <p:nvPr/>
        </p:nvSpPr>
        <p:spPr>
          <a:xfrm>
            <a:off x="749808" y="2121408"/>
            <a:ext cx="768096" cy="393192"/>
          </a:xfrm>
          <a:prstGeom prst="roundRect">
            <a:avLst>
              <a:gd name="adj" fmla="val 16279"/>
            </a:avLst>
          </a:prstGeom>
          <a:solidFill>
            <a:srgbClr val="1B4F72"/>
          </a:solidFill>
          <a:ln>
            <a:noFill/>
          </a:ln>
        </p:spPr>
        <p:txBody>
          <a:bodyPr lIns="0" tIns="0" rIns="0" bIns="0" anchor="ctr"/>
          <a:lstStyle/>
          <a:p/>
        </p:txBody>
      </p:sp>
      <p:sp>
        <p:nvSpPr>
          <p:cNvPr id="7" name="t7"/>
          <p:cNvSpPr txBox="1"/>
          <p:nvPr/>
        </p:nvSpPr>
        <p:spPr>
          <a:xfrm>
            <a:off x="749808" y="2121408"/>
            <a:ext cx="768096" cy="393192"/>
          </a:xfrm>
          <a:prstGeom prst="rect">
            <a:avLst/>
          </a:prstGeom>
          <a:noFill/>
        </p:spPr>
        <p:txBody>
          <a:bodyPr wrap="square" lIns="0" tIns="0" rIns="0" bIns="0" anchor="ctr">
            <a:normAutofit/>
          </a:bodyPr>
          <a:lstStyle/>
          <a:p>
            <a:pPr algn="ctr" marL="0" indent="0">
              <a:buNone/>
            </a:pPr>
            <a:r>
              <a:rPr lang="en-GB" sz="1050" b="1" i="0" dirty="0">
                <a:solidFill>
                  <a:srgbClr val="FEA520"/>
                </a:solidFill>
                <a:latin typeface="Calibri"/>
                <a:cs typeface="Calibri"/>
              </a:rPr>
              <a:t>FS-01</a:t>
            </a:r>
          </a:p>
        </p:txBody>
      </p:sp>
      <p:sp>
        <p:nvSpPr>
          <p:cNvPr id="8" name="t8"/>
          <p:cNvSpPr txBox="1"/>
          <p:nvPr/>
        </p:nvSpPr>
        <p:spPr>
          <a:xfrm>
            <a:off x="1609344" y="1938528"/>
            <a:ext cx="2295144" cy="758952"/>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Online payment gateway and mobile money</a:t>
            </a:r>
          </a:p>
        </p:txBody>
      </p:sp>
      <p:sp>
        <p:nvSpPr>
          <p:cNvPr id="9" name="s9"/>
          <p:cNvSpPr/>
          <p:nvPr/>
        </p:nvSpPr>
        <p:spPr>
          <a:xfrm>
            <a:off x="4343400" y="1865376"/>
            <a:ext cx="3520440" cy="905256"/>
          </a:xfrm>
          <a:prstGeom prst="roundRect">
            <a:avLst>
              <a:gd name="adj" fmla="val 10101"/>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0" name="s10"/>
          <p:cNvSpPr/>
          <p:nvPr/>
        </p:nvSpPr>
        <p:spPr>
          <a:xfrm>
            <a:off x="4526280" y="2121408"/>
            <a:ext cx="768096" cy="393192"/>
          </a:xfrm>
          <a:prstGeom prst="roundRect">
            <a:avLst>
              <a:gd name="adj" fmla="val 16279"/>
            </a:avLst>
          </a:prstGeom>
          <a:solidFill>
            <a:srgbClr val="1B4F72"/>
          </a:solidFill>
          <a:ln>
            <a:noFill/>
          </a:ln>
        </p:spPr>
        <p:txBody>
          <a:bodyPr lIns="0" tIns="0" rIns="0" bIns="0" anchor="ctr"/>
          <a:lstStyle/>
          <a:p/>
        </p:txBody>
      </p:sp>
      <p:sp>
        <p:nvSpPr>
          <p:cNvPr id="11" name="t11"/>
          <p:cNvSpPr txBox="1"/>
          <p:nvPr/>
        </p:nvSpPr>
        <p:spPr>
          <a:xfrm>
            <a:off x="4526280" y="2121408"/>
            <a:ext cx="768096" cy="393192"/>
          </a:xfrm>
          <a:prstGeom prst="rect">
            <a:avLst/>
          </a:prstGeom>
          <a:noFill/>
        </p:spPr>
        <p:txBody>
          <a:bodyPr wrap="square" lIns="0" tIns="0" rIns="0" bIns="0" anchor="ctr">
            <a:normAutofit/>
          </a:bodyPr>
          <a:lstStyle/>
          <a:p>
            <a:pPr algn="ctr" marL="0" indent="0">
              <a:buNone/>
            </a:pPr>
            <a:r>
              <a:rPr lang="en-GB" sz="1050" b="1" i="0" dirty="0">
                <a:solidFill>
                  <a:srgbClr val="FEA520"/>
                </a:solidFill>
                <a:latin typeface="Calibri"/>
                <a:cs typeface="Calibri"/>
              </a:rPr>
              <a:t>FS-02</a:t>
            </a:r>
          </a:p>
        </p:txBody>
      </p:sp>
      <p:sp>
        <p:nvSpPr>
          <p:cNvPr id="12" name="t12"/>
          <p:cNvSpPr txBox="1"/>
          <p:nvPr/>
        </p:nvSpPr>
        <p:spPr>
          <a:xfrm>
            <a:off x="5385816" y="1938528"/>
            <a:ext cx="2295144" cy="758952"/>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Automated rent reminders by e-mail and SMS</a:t>
            </a:r>
          </a:p>
        </p:txBody>
      </p:sp>
      <p:sp>
        <p:nvSpPr>
          <p:cNvPr id="13" name="s13"/>
          <p:cNvSpPr/>
          <p:nvPr/>
        </p:nvSpPr>
        <p:spPr>
          <a:xfrm>
            <a:off x="8119872" y="1865376"/>
            <a:ext cx="3520440" cy="905256"/>
          </a:xfrm>
          <a:prstGeom prst="roundRect">
            <a:avLst>
              <a:gd name="adj" fmla="val 10101"/>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4" name="s14"/>
          <p:cNvSpPr/>
          <p:nvPr/>
        </p:nvSpPr>
        <p:spPr>
          <a:xfrm>
            <a:off x="8302752" y="2121408"/>
            <a:ext cx="768096" cy="393192"/>
          </a:xfrm>
          <a:prstGeom prst="roundRect">
            <a:avLst>
              <a:gd name="adj" fmla="val 16279"/>
            </a:avLst>
          </a:prstGeom>
          <a:solidFill>
            <a:srgbClr val="1B4F72"/>
          </a:solidFill>
          <a:ln>
            <a:noFill/>
          </a:ln>
        </p:spPr>
        <p:txBody>
          <a:bodyPr lIns="0" tIns="0" rIns="0" bIns="0" anchor="ctr"/>
          <a:lstStyle/>
          <a:p/>
        </p:txBody>
      </p:sp>
      <p:sp>
        <p:nvSpPr>
          <p:cNvPr id="15" name="t15"/>
          <p:cNvSpPr txBox="1"/>
          <p:nvPr/>
        </p:nvSpPr>
        <p:spPr>
          <a:xfrm>
            <a:off x="8302752" y="2121408"/>
            <a:ext cx="768096" cy="393192"/>
          </a:xfrm>
          <a:prstGeom prst="rect">
            <a:avLst/>
          </a:prstGeom>
          <a:noFill/>
        </p:spPr>
        <p:txBody>
          <a:bodyPr wrap="square" lIns="0" tIns="0" rIns="0" bIns="0" anchor="ctr">
            <a:normAutofit/>
          </a:bodyPr>
          <a:lstStyle/>
          <a:p>
            <a:pPr algn="ctr" marL="0" indent="0">
              <a:buNone/>
            </a:pPr>
            <a:r>
              <a:rPr lang="en-GB" sz="1050" b="1" i="0" dirty="0">
                <a:solidFill>
                  <a:srgbClr val="FEA520"/>
                </a:solidFill>
                <a:latin typeface="Calibri"/>
                <a:cs typeface="Calibri"/>
              </a:rPr>
              <a:t>FS-03</a:t>
            </a:r>
          </a:p>
        </p:txBody>
      </p:sp>
      <p:sp>
        <p:nvSpPr>
          <p:cNvPr id="16" name="t16"/>
          <p:cNvSpPr txBox="1"/>
          <p:nvPr/>
        </p:nvSpPr>
        <p:spPr>
          <a:xfrm>
            <a:off x="9162288" y="1938528"/>
            <a:ext cx="2295144" cy="758952"/>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Subscription billing and plan limits</a:t>
            </a:r>
          </a:p>
        </p:txBody>
      </p:sp>
      <p:sp>
        <p:nvSpPr>
          <p:cNvPr id="17" name="s17"/>
          <p:cNvSpPr/>
          <p:nvPr/>
        </p:nvSpPr>
        <p:spPr>
          <a:xfrm>
            <a:off x="566928" y="2926080"/>
            <a:ext cx="3520440" cy="905256"/>
          </a:xfrm>
          <a:prstGeom prst="roundRect">
            <a:avLst>
              <a:gd name="adj" fmla="val 10101"/>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18" name="s18"/>
          <p:cNvSpPr/>
          <p:nvPr/>
        </p:nvSpPr>
        <p:spPr>
          <a:xfrm>
            <a:off x="749808" y="3182112"/>
            <a:ext cx="768096" cy="393192"/>
          </a:xfrm>
          <a:prstGeom prst="roundRect">
            <a:avLst>
              <a:gd name="adj" fmla="val 16279"/>
            </a:avLst>
          </a:prstGeom>
          <a:solidFill>
            <a:srgbClr val="1B4F72"/>
          </a:solidFill>
          <a:ln>
            <a:noFill/>
          </a:ln>
        </p:spPr>
        <p:txBody>
          <a:bodyPr lIns="0" tIns="0" rIns="0" bIns="0" anchor="ctr"/>
          <a:lstStyle/>
          <a:p/>
        </p:txBody>
      </p:sp>
      <p:sp>
        <p:nvSpPr>
          <p:cNvPr id="19" name="t19"/>
          <p:cNvSpPr txBox="1"/>
          <p:nvPr/>
        </p:nvSpPr>
        <p:spPr>
          <a:xfrm>
            <a:off x="749808" y="3182112"/>
            <a:ext cx="768096" cy="393192"/>
          </a:xfrm>
          <a:prstGeom prst="rect">
            <a:avLst/>
          </a:prstGeom>
          <a:noFill/>
        </p:spPr>
        <p:txBody>
          <a:bodyPr wrap="square" lIns="0" tIns="0" rIns="0" bIns="0" anchor="ctr">
            <a:normAutofit/>
          </a:bodyPr>
          <a:lstStyle/>
          <a:p>
            <a:pPr algn="ctr" marL="0" indent="0">
              <a:buNone/>
            </a:pPr>
            <a:r>
              <a:rPr lang="en-GB" sz="1050" b="1" i="0" dirty="0">
                <a:solidFill>
                  <a:srgbClr val="FEA520"/>
                </a:solidFill>
                <a:latin typeface="Calibri"/>
                <a:cs typeface="Calibri"/>
              </a:rPr>
              <a:t>FS-04</a:t>
            </a:r>
          </a:p>
        </p:txBody>
      </p:sp>
      <p:sp>
        <p:nvSpPr>
          <p:cNvPr id="20" name="t20"/>
          <p:cNvSpPr txBox="1"/>
          <p:nvPr/>
        </p:nvSpPr>
        <p:spPr>
          <a:xfrm>
            <a:off x="1609344" y="2999232"/>
            <a:ext cx="2295144" cy="758952"/>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Password change and two-factor authentication</a:t>
            </a:r>
          </a:p>
        </p:txBody>
      </p:sp>
      <p:sp>
        <p:nvSpPr>
          <p:cNvPr id="21" name="s21"/>
          <p:cNvSpPr/>
          <p:nvPr/>
        </p:nvSpPr>
        <p:spPr>
          <a:xfrm>
            <a:off x="4343400" y="2926080"/>
            <a:ext cx="3520440" cy="905256"/>
          </a:xfrm>
          <a:prstGeom prst="roundRect">
            <a:avLst>
              <a:gd name="adj" fmla="val 10101"/>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22" name="s22"/>
          <p:cNvSpPr/>
          <p:nvPr/>
        </p:nvSpPr>
        <p:spPr>
          <a:xfrm>
            <a:off x="4526280" y="3182112"/>
            <a:ext cx="768096" cy="393192"/>
          </a:xfrm>
          <a:prstGeom prst="roundRect">
            <a:avLst>
              <a:gd name="adj" fmla="val 16279"/>
            </a:avLst>
          </a:prstGeom>
          <a:solidFill>
            <a:srgbClr val="1B4F72"/>
          </a:solidFill>
          <a:ln>
            <a:noFill/>
          </a:ln>
        </p:spPr>
        <p:txBody>
          <a:bodyPr lIns="0" tIns="0" rIns="0" bIns="0" anchor="ctr"/>
          <a:lstStyle/>
          <a:p/>
        </p:txBody>
      </p:sp>
      <p:sp>
        <p:nvSpPr>
          <p:cNvPr id="23" name="t23"/>
          <p:cNvSpPr txBox="1"/>
          <p:nvPr/>
        </p:nvSpPr>
        <p:spPr>
          <a:xfrm>
            <a:off x="4526280" y="3182112"/>
            <a:ext cx="768096" cy="393192"/>
          </a:xfrm>
          <a:prstGeom prst="rect">
            <a:avLst/>
          </a:prstGeom>
          <a:noFill/>
        </p:spPr>
        <p:txBody>
          <a:bodyPr wrap="square" lIns="0" tIns="0" rIns="0" bIns="0" anchor="ctr">
            <a:normAutofit/>
          </a:bodyPr>
          <a:lstStyle/>
          <a:p>
            <a:pPr algn="ctr" marL="0" indent="0">
              <a:buNone/>
            </a:pPr>
            <a:r>
              <a:rPr lang="en-GB" sz="1050" b="1" i="0" dirty="0">
                <a:solidFill>
                  <a:srgbClr val="FEA520"/>
                </a:solidFill>
                <a:latin typeface="Calibri"/>
                <a:cs typeface="Calibri"/>
              </a:rPr>
              <a:t>FS-05</a:t>
            </a:r>
          </a:p>
        </p:txBody>
      </p:sp>
      <p:sp>
        <p:nvSpPr>
          <p:cNvPr id="24" name="t24"/>
          <p:cNvSpPr txBox="1"/>
          <p:nvPr/>
        </p:nvSpPr>
        <p:spPr>
          <a:xfrm>
            <a:off x="5385816" y="2999232"/>
            <a:ext cx="2295144" cy="758952"/>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Lease documents and renewal alerts</a:t>
            </a:r>
          </a:p>
        </p:txBody>
      </p:sp>
      <p:sp>
        <p:nvSpPr>
          <p:cNvPr id="25" name="s25"/>
          <p:cNvSpPr/>
          <p:nvPr/>
        </p:nvSpPr>
        <p:spPr>
          <a:xfrm>
            <a:off x="8119872" y="2926080"/>
            <a:ext cx="3520440" cy="905256"/>
          </a:xfrm>
          <a:prstGeom prst="roundRect">
            <a:avLst>
              <a:gd name="adj" fmla="val 10101"/>
            </a:avLst>
          </a:prstGeom>
          <a:solidFill>
            <a:srgbClr val="FFFFFF"/>
          </a:solidFill>
          <a:ln w="12700">
            <a:solidFill>
              <a:srgbClr val="DCE3E9"/>
            </a:solidFill>
          </a:ln>
          <a:effectLst>
            <a:outerShdw blurRad="95250" dist="22860" dir="5400000" rotWithShape="0">
              <a:srgbClr val="8C9BA8">
                <a:alpha val="20000"/>
              </a:srgbClr>
            </a:outerShdw>
          </a:effectLst>
        </p:spPr>
        <p:txBody>
          <a:bodyPr lIns="0" tIns="0" rIns="0" bIns="0" anchor="ctr"/>
          <a:lstStyle/>
          <a:p/>
        </p:txBody>
      </p:sp>
      <p:sp>
        <p:nvSpPr>
          <p:cNvPr id="26" name="s26"/>
          <p:cNvSpPr/>
          <p:nvPr/>
        </p:nvSpPr>
        <p:spPr>
          <a:xfrm>
            <a:off x="8302752" y="3182112"/>
            <a:ext cx="768096" cy="393192"/>
          </a:xfrm>
          <a:prstGeom prst="roundRect">
            <a:avLst>
              <a:gd name="adj" fmla="val 16279"/>
            </a:avLst>
          </a:prstGeom>
          <a:solidFill>
            <a:srgbClr val="1B4F72"/>
          </a:solidFill>
          <a:ln>
            <a:noFill/>
          </a:ln>
        </p:spPr>
        <p:txBody>
          <a:bodyPr lIns="0" tIns="0" rIns="0" bIns="0" anchor="ctr"/>
          <a:lstStyle/>
          <a:p/>
        </p:txBody>
      </p:sp>
      <p:sp>
        <p:nvSpPr>
          <p:cNvPr id="27" name="t27"/>
          <p:cNvSpPr txBox="1"/>
          <p:nvPr/>
        </p:nvSpPr>
        <p:spPr>
          <a:xfrm>
            <a:off x="8302752" y="3182112"/>
            <a:ext cx="768096" cy="393192"/>
          </a:xfrm>
          <a:prstGeom prst="rect">
            <a:avLst/>
          </a:prstGeom>
          <a:noFill/>
        </p:spPr>
        <p:txBody>
          <a:bodyPr wrap="square" lIns="0" tIns="0" rIns="0" bIns="0" anchor="ctr">
            <a:normAutofit/>
          </a:bodyPr>
          <a:lstStyle/>
          <a:p>
            <a:pPr algn="ctr" marL="0" indent="0">
              <a:buNone/>
            </a:pPr>
            <a:r>
              <a:rPr lang="en-GB" sz="1050" b="1" i="0" dirty="0">
                <a:solidFill>
                  <a:srgbClr val="FEA520"/>
                </a:solidFill>
                <a:latin typeface="Calibri"/>
                <a:cs typeface="Calibri"/>
              </a:rPr>
              <a:t>FS-06</a:t>
            </a:r>
          </a:p>
        </p:txBody>
      </p:sp>
      <p:sp>
        <p:nvSpPr>
          <p:cNvPr id="28" name="t28"/>
          <p:cNvSpPr txBox="1"/>
          <p:nvPr/>
        </p:nvSpPr>
        <p:spPr>
          <a:xfrm>
            <a:off x="9162288" y="2999232"/>
            <a:ext cx="2295144" cy="758952"/>
          </a:xfrm>
          <a:prstGeom prst="rect">
            <a:avLst/>
          </a:prstGeom>
          <a:noFill/>
        </p:spPr>
        <p:txBody>
          <a:bodyPr wrap="square" lIns="0" tIns="0" rIns="0" bIns="0" anchor="ctr">
            <a:normAutofit/>
          </a:bodyPr>
          <a:lstStyle/>
          <a:p>
            <a:pPr algn="l" marL="0" indent="0">
              <a:buNone/>
            </a:pPr>
            <a:r>
              <a:rPr lang="en-GB" sz="1200" b="0" i="0" dirty="0">
                <a:solidFill>
                  <a:srgbClr val="1A1C1E"/>
                </a:solidFill>
                <a:latin typeface="Calibri"/>
                <a:cs typeface="Calibri"/>
              </a:rPr>
              <a:t>Filtering and search on the maintenance board</a:t>
            </a:r>
          </a:p>
        </p:txBody>
      </p:sp>
      <p:sp>
        <p:nvSpPr>
          <p:cNvPr id="29" name="s29"/>
          <p:cNvSpPr/>
          <p:nvPr/>
        </p:nvSpPr>
        <p:spPr>
          <a:xfrm>
            <a:off x="566928" y="4206240"/>
            <a:ext cx="11057839" cy="1417320"/>
          </a:xfrm>
          <a:prstGeom prst="roundRect">
            <a:avLst>
              <a:gd name="adj" fmla="val 7741"/>
            </a:avLst>
          </a:prstGeom>
          <a:solidFill>
            <a:srgbClr val="F1F4F7"/>
          </a:solidFill>
          <a:ln w="12700">
            <a:solidFill>
              <a:srgbClr val="FEA520"/>
            </a:solidFill>
          </a:ln>
        </p:spPr>
        <p:txBody>
          <a:bodyPr lIns="0" tIns="0" rIns="0" bIns="0" anchor="ctr"/>
          <a:lstStyle/>
          <a:p/>
        </p:txBody>
      </p:sp>
      <p:sp>
        <p:nvSpPr>
          <p:cNvPr id="30" name="t30"/>
          <p:cNvSpPr txBox="1"/>
          <p:nvPr/>
        </p:nvSpPr>
        <p:spPr>
          <a:xfrm>
            <a:off x="896112" y="4389120"/>
            <a:ext cx="4023360" cy="329184"/>
          </a:xfrm>
          <a:prstGeom prst="rect">
            <a:avLst/>
          </a:prstGeom>
          <a:noFill/>
        </p:spPr>
        <p:txBody>
          <a:bodyPr wrap="square" lIns="0" tIns="0" rIns="0" bIns="0" anchor="t">
            <a:normAutofit/>
          </a:bodyPr>
          <a:lstStyle/>
          <a:p>
            <a:pPr algn="l" marL="0" indent="0">
              <a:buNone/>
            </a:pPr>
            <a:r>
              <a:rPr lang="en-GB" sz="1600" b="1" i="0" dirty="0">
                <a:solidFill>
                  <a:srgbClr val="003857"/>
                </a:solidFill>
                <a:latin typeface="Calibri"/>
                <a:cs typeface="Calibri"/>
              </a:rPr>
              <a:t>An honest specification</a:t>
            </a:r>
          </a:p>
        </p:txBody>
      </p:sp>
      <p:sp>
        <p:nvSpPr>
          <p:cNvPr id="31" name="t31"/>
          <p:cNvSpPr txBox="1"/>
          <p:nvPr/>
        </p:nvSpPr>
        <p:spPr>
          <a:xfrm>
            <a:off x="896112" y="4736592"/>
            <a:ext cx="10399471" cy="841248"/>
          </a:xfrm>
          <a:prstGeom prst="rect">
            <a:avLst/>
          </a:prstGeom>
          <a:noFill/>
        </p:spPr>
        <p:txBody>
          <a:bodyPr wrap="square" lIns="0" tIns="0" rIns="0" bIns="0" anchor="t">
            <a:normAutofit/>
          </a:bodyPr>
          <a:lstStyle/>
          <a:p>
            <a:pPr algn="l" marL="0" indent="0">
              <a:buNone/>
            </a:pPr>
            <a:r>
              <a:rPr lang="en-GB" sz="1300" b="0" i="0" dirty="0">
                <a:solidFill>
                  <a:srgbClr val="1A1C1E"/>
                </a:solidFill>
                <a:latin typeface="Calibri"/>
                <a:cs typeface="Calibri"/>
              </a:rPr>
              <a:t>Three screens already show controls that are not connected to anything — the password fields, the notification preferences and the maintenance filters. The SRS records them as future scope rather than specifying them as delivered behaviour, so the document cannot overstate what the system does.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3857"/>
        </a:solidFill>
        <a:effectLst/>
      </p:bgPr>
    </p:bg>
    <p:spTree>
      <p:nvGrpSpPr>
        <p:cNvPr id="1" name=""/>
        <p:cNvGrpSpPr/>
        <p:nvPr/>
      </p:nvGrpSpPr>
      <p:grpSpPr>
        <a:xfrm>
          <a:off x="0" y="0"/>
          <a:ext cx="0" cy="0"/>
          <a:chOff x="0" y="0"/>
          <a:chExt cx="0" cy="0"/>
        </a:xfrm>
      </p:grpSpPr>
      <p:sp>
        <p:nvSpPr>
          <p:cNvPr id="2" name="s2"/>
          <p:cNvSpPr/>
          <p:nvPr/>
        </p:nvSpPr>
        <p:spPr>
          <a:xfrm>
            <a:off x="0" y="6775704"/>
            <a:ext cx="12191695" cy="82296"/>
          </a:xfrm>
          <a:prstGeom prst="rect">
            <a:avLst/>
          </a:prstGeom>
          <a:solidFill>
            <a:srgbClr val="FEA520"/>
          </a:solidFill>
          <a:ln>
            <a:noFill/>
          </a:ln>
        </p:spPr>
        <p:txBody>
          <a:bodyPr lIns="0" tIns="0" rIns="0" bIns="0" anchor="ctr"/>
          <a:lstStyle/>
          <a:p/>
        </p:txBody>
      </p:sp>
      <p:sp>
        <p:nvSpPr>
          <p:cNvPr id="3" name="t3"/>
          <p:cNvSpPr txBox="1"/>
          <p:nvPr/>
        </p:nvSpPr>
        <p:spPr>
          <a:xfrm>
            <a:off x="566928" y="841248"/>
            <a:ext cx="11057839" cy="292608"/>
          </a:xfrm>
          <a:prstGeom prst="rect">
            <a:avLst/>
          </a:prstGeom>
          <a:noFill/>
        </p:spPr>
        <p:txBody>
          <a:bodyPr wrap="square" lIns="0" tIns="0" rIns="0" bIns="0" anchor="t">
            <a:normAutofit/>
          </a:bodyPr>
          <a:lstStyle/>
          <a:p>
            <a:pPr algn="l" marL="0" indent="0">
              <a:buNone/>
            </a:pPr>
            <a:r>
              <a:rPr lang="en-GB" sz="1200" b="1" i="0" spc="200" dirty="0">
                <a:solidFill>
                  <a:srgbClr val="FEA520"/>
                </a:solidFill>
                <a:latin typeface="Calibri"/>
                <a:cs typeface="Calibri"/>
              </a:rPr>
              <a:t>IN CLOSING</a:t>
            </a:r>
          </a:p>
        </p:txBody>
      </p:sp>
      <p:sp>
        <p:nvSpPr>
          <p:cNvPr id="4" name="t4"/>
          <p:cNvSpPr txBox="1"/>
          <p:nvPr/>
        </p:nvSpPr>
        <p:spPr>
          <a:xfrm>
            <a:off x="566928" y="1152144"/>
            <a:ext cx="10607040" cy="749808"/>
          </a:xfrm>
          <a:prstGeom prst="rect">
            <a:avLst/>
          </a:prstGeom>
          <a:noFill/>
        </p:spPr>
        <p:txBody>
          <a:bodyPr wrap="square" lIns="0" tIns="0" rIns="0" bIns="0" anchor="t">
            <a:normAutofit/>
          </a:bodyPr>
          <a:lstStyle/>
          <a:p>
            <a:pPr algn="l" marL="0" indent="0">
              <a:buNone/>
            </a:pPr>
            <a:r>
              <a:rPr lang="en-GB" sz="3400" b="1" i="0" dirty="0">
                <a:solidFill>
                  <a:srgbClr val="FFFFFF"/>
                </a:solidFill>
                <a:latin typeface="Calibri"/>
                <a:cs typeface="Calibri"/>
              </a:rPr>
              <a:t>Every requirement is traced and verifiable</a:t>
            </a:r>
          </a:p>
        </p:txBody>
      </p:sp>
      <p:sp>
        <p:nvSpPr>
          <p:cNvPr id="5" name="t5"/>
          <p:cNvSpPr txBox="1"/>
          <p:nvPr/>
        </p:nvSpPr>
        <p:spPr>
          <a:xfrm>
            <a:off x="566928" y="1975104"/>
            <a:ext cx="10424160" cy="457200"/>
          </a:xfrm>
          <a:prstGeom prst="rect">
            <a:avLst/>
          </a:prstGeom>
          <a:noFill/>
        </p:spPr>
        <p:txBody>
          <a:bodyPr wrap="square" lIns="0" tIns="0" rIns="0" bIns="0" anchor="t">
            <a:normAutofit/>
          </a:bodyPr>
          <a:lstStyle/>
          <a:p>
            <a:pPr algn="l" marL="0" indent="0">
              <a:buNone/>
            </a:pPr>
            <a:r>
              <a:rPr lang="en-GB" sz="1500" b="0" i="0" dirty="0">
                <a:solidFill>
                  <a:srgbClr val="C8D8E4"/>
                </a:solidFill>
                <a:latin typeface="Calibri"/>
                <a:cs typeface="Calibri"/>
              </a:rPr>
              <a:t>The traceability matrix maps each requirement to the feature it realises, the use case that exercises it, and the method that will confirm it.</a:t>
            </a:r>
          </a:p>
        </p:txBody>
      </p:sp>
      <p:sp>
        <p:nvSpPr>
          <p:cNvPr id="6" name="s6"/>
          <p:cNvSpPr/>
          <p:nvPr/>
        </p:nvSpPr>
        <p:spPr>
          <a:xfrm>
            <a:off x="566928" y="2761488"/>
            <a:ext cx="2615184" cy="1591056"/>
          </a:xfrm>
          <a:prstGeom prst="roundRect">
            <a:avLst>
              <a:gd name="adj" fmla="val 6896"/>
            </a:avLst>
          </a:prstGeom>
          <a:solidFill>
            <a:srgbClr val="1B4F72"/>
          </a:solidFill>
          <a:ln>
            <a:noFill/>
          </a:ln>
        </p:spPr>
        <p:txBody>
          <a:bodyPr lIns="0" tIns="0" rIns="0" bIns="0" anchor="ctr"/>
          <a:lstStyle/>
          <a:p/>
        </p:txBody>
      </p:sp>
      <p:sp>
        <p:nvSpPr>
          <p:cNvPr id="7" name="t7"/>
          <p:cNvSpPr txBox="1"/>
          <p:nvPr/>
        </p:nvSpPr>
        <p:spPr>
          <a:xfrm>
            <a:off x="731520" y="2962656"/>
            <a:ext cx="2286000" cy="402336"/>
          </a:xfrm>
          <a:prstGeom prst="rect">
            <a:avLst/>
          </a:prstGeom>
          <a:noFill/>
        </p:spPr>
        <p:txBody>
          <a:bodyPr wrap="square" lIns="0" tIns="0" rIns="0" bIns="0" anchor="t">
            <a:normAutofit/>
          </a:bodyPr>
          <a:lstStyle/>
          <a:p>
            <a:pPr algn="ctr" marL="0" indent="0">
              <a:buNone/>
            </a:pPr>
            <a:r>
              <a:rPr lang="en-GB" sz="1800" b="1" i="0" dirty="0">
                <a:solidFill>
                  <a:srgbClr val="FEA520"/>
                </a:solidFill>
                <a:latin typeface="Calibri"/>
                <a:cs typeface="Calibri"/>
              </a:rPr>
              <a:t>Test</a:t>
            </a:r>
          </a:p>
        </p:txBody>
      </p:sp>
      <p:sp>
        <p:nvSpPr>
          <p:cNvPr id="8" name="t8"/>
          <p:cNvSpPr txBox="1"/>
          <p:nvPr/>
        </p:nvSpPr>
        <p:spPr>
          <a:xfrm>
            <a:off x="749808" y="3419856"/>
            <a:ext cx="2249424" cy="822960"/>
          </a:xfrm>
          <a:prstGeom prst="rect">
            <a:avLst/>
          </a:prstGeom>
          <a:noFill/>
        </p:spPr>
        <p:txBody>
          <a:bodyPr wrap="square" lIns="0" tIns="0" rIns="0" bIns="0" anchor="t">
            <a:normAutofit/>
          </a:bodyPr>
          <a:lstStyle/>
          <a:p>
            <a:pPr algn="ctr" marL="0" indent="0">
              <a:buNone/>
            </a:pPr>
            <a:r>
              <a:rPr lang="en-GB" sz="1200" b="0" i="0" dirty="0">
                <a:solidFill>
                  <a:srgbClr val="C8D8E4"/>
                </a:solidFill>
                <a:latin typeface="Calibri"/>
                <a:cs typeface="Calibri"/>
              </a:rPr>
              <a:t>Executed against a defined expected result</a:t>
            </a:r>
          </a:p>
        </p:txBody>
      </p:sp>
      <p:sp>
        <p:nvSpPr>
          <p:cNvPr id="9" name="s9"/>
          <p:cNvSpPr/>
          <p:nvPr/>
        </p:nvSpPr>
        <p:spPr>
          <a:xfrm>
            <a:off x="3401568" y="2761488"/>
            <a:ext cx="2615184" cy="1591056"/>
          </a:xfrm>
          <a:prstGeom prst="roundRect">
            <a:avLst>
              <a:gd name="adj" fmla="val 6896"/>
            </a:avLst>
          </a:prstGeom>
          <a:solidFill>
            <a:srgbClr val="1B4F72"/>
          </a:solidFill>
          <a:ln>
            <a:noFill/>
          </a:ln>
        </p:spPr>
        <p:txBody>
          <a:bodyPr lIns="0" tIns="0" rIns="0" bIns="0" anchor="ctr"/>
          <a:lstStyle/>
          <a:p/>
        </p:txBody>
      </p:sp>
      <p:sp>
        <p:nvSpPr>
          <p:cNvPr id="10" name="t10"/>
          <p:cNvSpPr txBox="1"/>
          <p:nvPr/>
        </p:nvSpPr>
        <p:spPr>
          <a:xfrm>
            <a:off x="3566160" y="2962656"/>
            <a:ext cx="2286000" cy="402336"/>
          </a:xfrm>
          <a:prstGeom prst="rect">
            <a:avLst/>
          </a:prstGeom>
          <a:noFill/>
        </p:spPr>
        <p:txBody>
          <a:bodyPr wrap="square" lIns="0" tIns="0" rIns="0" bIns="0" anchor="t">
            <a:normAutofit/>
          </a:bodyPr>
          <a:lstStyle/>
          <a:p>
            <a:pPr algn="ctr" marL="0" indent="0">
              <a:buNone/>
            </a:pPr>
            <a:r>
              <a:rPr lang="en-GB" sz="1800" b="1" i="0" dirty="0">
                <a:solidFill>
                  <a:srgbClr val="FEA520"/>
                </a:solidFill>
                <a:latin typeface="Calibri"/>
                <a:cs typeface="Calibri"/>
              </a:rPr>
              <a:t>Demonstration</a:t>
            </a:r>
          </a:p>
        </p:txBody>
      </p:sp>
      <p:sp>
        <p:nvSpPr>
          <p:cNvPr id="11" name="t11"/>
          <p:cNvSpPr txBox="1"/>
          <p:nvPr/>
        </p:nvSpPr>
        <p:spPr>
          <a:xfrm>
            <a:off x="3584448" y="3419856"/>
            <a:ext cx="2249424" cy="822960"/>
          </a:xfrm>
          <a:prstGeom prst="rect">
            <a:avLst/>
          </a:prstGeom>
          <a:noFill/>
        </p:spPr>
        <p:txBody>
          <a:bodyPr wrap="square" lIns="0" tIns="0" rIns="0" bIns="0" anchor="t">
            <a:normAutofit/>
          </a:bodyPr>
          <a:lstStyle/>
          <a:p>
            <a:pPr algn="ctr" marL="0" indent="0">
              <a:buNone/>
            </a:pPr>
            <a:r>
              <a:rPr lang="en-GB" sz="1200" b="0" i="0" dirty="0">
                <a:solidFill>
                  <a:srgbClr val="C8D8E4"/>
                </a:solidFill>
                <a:latin typeface="Calibri"/>
                <a:cs typeface="Calibri"/>
              </a:rPr>
              <a:t>Operated and observed</a:t>
            </a:r>
          </a:p>
        </p:txBody>
      </p:sp>
      <p:sp>
        <p:nvSpPr>
          <p:cNvPr id="12" name="s12"/>
          <p:cNvSpPr/>
          <p:nvPr/>
        </p:nvSpPr>
        <p:spPr>
          <a:xfrm>
            <a:off x="6236208" y="2761488"/>
            <a:ext cx="2615184" cy="1591056"/>
          </a:xfrm>
          <a:prstGeom prst="roundRect">
            <a:avLst>
              <a:gd name="adj" fmla="val 6896"/>
            </a:avLst>
          </a:prstGeom>
          <a:solidFill>
            <a:srgbClr val="1B4F72"/>
          </a:solidFill>
          <a:ln>
            <a:noFill/>
          </a:ln>
        </p:spPr>
        <p:txBody>
          <a:bodyPr lIns="0" tIns="0" rIns="0" bIns="0" anchor="ctr"/>
          <a:lstStyle/>
          <a:p/>
        </p:txBody>
      </p:sp>
      <p:sp>
        <p:nvSpPr>
          <p:cNvPr id="13" name="t13"/>
          <p:cNvSpPr txBox="1"/>
          <p:nvPr/>
        </p:nvSpPr>
        <p:spPr>
          <a:xfrm>
            <a:off x="6400800" y="2962656"/>
            <a:ext cx="2286000" cy="402336"/>
          </a:xfrm>
          <a:prstGeom prst="rect">
            <a:avLst/>
          </a:prstGeom>
          <a:noFill/>
        </p:spPr>
        <p:txBody>
          <a:bodyPr wrap="square" lIns="0" tIns="0" rIns="0" bIns="0" anchor="t">
            <a:normAutofit/>
          </a:bodyPr>
          <a:lstStyle/>
          <a:p>
            <a:pPr algn="ctr" marL="0" indent="0">
              <a:buNone/>
            </a:pPr>
            <a:r>
              <a:rPr lang="en-GB" sz="1800" b="1" i="0" dirty="0">
                <a:solidFill>
                  <a:srgbClr val="FEA520"/>
                </a:solidFill>
                <a:latin typeface="Calibri"/>
                <a:cs typeface="Calibri"/>
              </a:rPr>
              <a:t>Inspection</a:t>
            </a:r>
          </a:p>
        </p:txBody>
      </p:sp>
      <p:sp>
        <p:nvSpPr>
          <p:cNvPr id="14" name="t14"/>
          <p:cNvSpPr txBox="1"/>
          <p:nvPr/>
        </p:nvSpPr>
        <p:spPr>
          <a:xfrm>
            <a:off x="6419088" y="3419856"/>
            <a:ext cx="2249424" cy="822960"/>
          </a:xfrm>
          <a:prstGeom prst="rect">
            <a:avLst/>
          </a:prstGeom>
          <a:noFill/>
        </p:spPr>
        <p:txBody>
          <a:bodyPr wrap="square" lIns="0" tIns="0" rIns="0" bIns="0" anchor="t">
            <a:normAutofit/>
          </a:bodyPr>
          <a:lstStyle/>
          <a:p>
            <a:pPr algn="ctr" marL="0" indent="0">
              <a:buNone/>
            </a:pPr>
            <a:r>
              <a:rPr lang="en-GB" sz="1200" b="0" i="0" dirty="0">
                <a:solidFill>
                  <a:srgbClr val="C8D8E4"/>
                </a:solidFill>
                <a:latin typeface="Calibri"/>
                <a:cs typeface="Calibri"/>
              </a:rPr>
              <a:t>Product or documentation examined</a:t>
            </a:r>
          </a:p>
        </p:txBody>
      </p:sp>
      <p:sp>
        <p:nvSpPr>
          <p:cNvPr id="15" name="s15"/>
          <p:cNvSpPr/>
          <p:nvPr/>
        </p:nvSpPr>
        <p:spPr>
          <a:xfrm>
            <a:off x="9070848" y="2761488"/>
            <a:ext cx="2615184" cy="1591056"/>
          </a:xfrm>
          <a:prstGeom prst="roundRect">
            <a:avLst>
              <a:gd name="adj" fmla="val 6896"/>
            </a:avLst>
          </a:prstGeom>
          <a:solidFill>
            <a:srgbClr val="1B4F72"/>
          </a:solidFill>
          <a:ln>
            <a:noFill/>
          </a:ln>
        </p:spPr>
        <p:txBody>
          <a:bodyPr lIns="0" tIns="0" rIns="0" bIns="0" anchor="ctr"/>
          <a:lstStyle/>
          <a:p/>
        </p:txBody>
      </p:sp>
      <p:sp>
        <p:nvSpPr>
          <p:cNvPr id="16" name="t16"/>
          <p:cNvSpPr txBox="1"/>
          <p:nvPr/>
        </p:nvSpPr>
        <p:spPr>
          <a:xfrm>
            <a:off x="9235440" y="2962656"/>
            <a:ext cx="2286000" cy="402336"/>
          </a:xfrm>
          <a:prstGeom prst="rect">
            <a:avLst/>
          </a:prstGeom>
          <a:noFill/>
        </p:spPr>
        <p:txBody>
          <a:bodyPr wrap="square" lIns="0" tIns="0" rIns="0" bIns="0" anchor="t">
            <a:normAutofit/>
          </a:bodyPr>
          <a:lstStyle/>
          <a:p>
            <a:pPr algn="ctr" marL="0" indent="0">
              <a:buNone/>
            </a:pPr>
            <a:r>
              <a:rPr lang="en-GB" sz="1800" b="1" i="0" dirty="0">
                <a:solidFill>
                  <a:srgbClr val="FEA520"/>
                </a:solidFill>
                <a:latin typeface="Calibri"/>
                <a:cs typeface="Calibri"/>
              </a:rPr>
              <a:t>Analysis</a:t>
            </a:r>
          </a:p>
        </p:txBody>
      </p:sp>
      <p:sp>
        <p:nvSpPr>
          <p:cNvPr id="17" name="t17"/>
          <p:cNvSpPr txBox="1"/>
          <p:nvPr/>
        </p:nvSpPr>
        <p:spPr>
          <a:xfrm>
            <a:off x="9253728" y="3419856"/>
            <a:ext cx="2249424" cy="822960"/>
          </a:xfrm>
          <a:prstGeom prst="rect">
            <a:avLst/>
          </a:prstGeom>
          <a:noFill/>
        </p:spPr>
        <p:txBody>
          <a:bodyPr wrap="square" lIns="0" tIns="0" rIns="0" bIns="0" anchor="t">
            <a:normAutofit/>
          </a:bodyPr>
          <a:lstStyle/>
          <a:p>
            <a:pPr algn="ctr" marL="0" indent="0">
              <a:buNone/>
            </a:pPr>
            <a:r>
              <a:rPr lang="en-GB" sz="1200" b="0" i="0" dirty="0">
                <a:solidFill>
                  <a:srgbClr val="C8D8E4"/>
                </a:solidFill>
                <a:latin typeface="Calibri"/>
                <a:cs typeface="Calibri"/>
              </a:rPr>
              <a:t>Reasoned from models and measurements</a:t>
            </a:r>
          </a:p>
        </p:txBody>
      </p:sp>
      <p:sp>
        <p:nvSpPr>
          <p:cNvPr id="18" name="t18"/>
          <p:cNvSpPr txBox="1"/>
          <p:nvPr/>
        </p:nvSpPr>
        <p:spPr>
          <a:xfrm>
            <a:off x="566928" y="4663440"/>
            <a:ext cx="10607040" cy="777240"/>
          </a:xfrm>
          <a:prstGeom prst="rect">
            <a:avLst/>
          </a:prstGeom>
          <a:noFill/>
        </p:spPr>
        <p:txBody>
          <a:bodyPr wrap="square" lIns="0" tIns="0" rIns="0" bIns="0" anchor="t">
            <a:normAutofit/>
          </a:bodyPr>
          <a:lstStyle/>
          <a:p>
            <a:pPr algn="l" marL="0" indent="0">
              <a:buNone/>
            </a:pPr>
            <a:r>
              <a:rPr lang="en-GB" sz="1450" b="0" i="0" dirty="0">
                <a:solidFill>
                  <a:srgbClr val="FFFFFF"/>
                </a:solidFill>
                <a:latin typeface="Calibri"/>
                <a:cs typeface="Calibri"/>
              </a:rPr>
              <a:t>The specification is a foundation for design, not a wish list: it carries the data model, the process decomposition, the state models, and a verification method for all 137 numbered requirements.</a:t>
            </a:r>
          </a:p>
        </p:txBody>
      </p:sp>
      <p:sp>
        <p:nvSpPr>
          <p:cNvPr id="19" name="t19"/>
          <p:cNvSpPr txBox="1"/>
          <p:nvPr/>
        </p:nvSpPr>
        <p:spPr>
          <a:xfrm>
            <a:off x="566928" y="5650992"/>
            <a:ext cx="7315200" cy="457200"/>
          </a:xfrm>
          <a:prstGeom prst="rect">
            <a:avLst/>
          </a:prstGeom>
          <a:noFill/>
        </p:spPr>
        <p:txBody>
          <a:bodyPr wrap="square" lIns="0" tIns="0" rIns="0" bIns="0" anchor="t">
            <a:normAutofit/>
          </a:bodyPr>
          <a:lstStyle/>
          <a:p>
            <a:pPr algn="l" marL="0" indent="0">
              <a:buNone/>
            </a:pPr>
            <a:r>
              <a:rPr lang="en-GB" sz="1900" b="1" i="0" dirty="0">
                <a:solidFill>
                  <a:srgbClr val="FEA520"/>
                </a:solidFill>
                <a:latin typeface="Calibri"/>
                <a:cs typeface="Calibri"/>
              </a:rPr>
              <a:t>Thank you — questions welcome</a:t>
            </a:r>
          </a:p>
        </p:txBody>
      </p:sp>
      <p:sp>
        <p:nvSpPr>
          <p:cNvPr id="20" name="t20"/>
          <p:cNvSpPr txBox="1"/>
          <p:nvPr/>
        </p:nvSpPr>
        <p:spPr>
          <a:xfrm>
            <a:off x="7498080" y="5724144"/>
            <a:ext cx="4114800" cy="365760"/>
          </a:xfrm>
          <a:prstGeom prst="rect">
            <a:avLst/>
          </a:prstGeom>
          <a:noFill/>
        </p:spPr>
        <p:txBody>
          <a:bodyPr wrap="square" lIns="0" tIns="0" rIns="0" bIns="0" anchor="t">
            <a:normAutofit/>
          </a:bodyPr>
          <a:lstStyle/>
          <a:p>
            <a:pPr algn="r" marL="0" indent="0">
              <a:buNone/>
            </a:pPr>
            <a:r>
              <a:rPr lang="en-GB" sz="1300" b="0" i="0" dirty="0">
                <a:solidFill>
                  <a:srgbClr val="C8D8E4"/>
                </a:solidFill>
                <a:latin typeface="Calibri"/>
                <a:cs typeface="Calibri"/>
              </a:rPr>
              <a:t>Georgy Moni  ·  202100062</a:t>
            </a:r>
          </a:p>
        </p:txBody>
      </p:sp>
    </p:spTree>
  </p:cSld>
  <p:clrMapOvr>
    <a:masterClrMapping/>
  </p:clrMapOvr>
</p:sld>
</file>

<file path=ppt/theme/theme1.xml><?xml version="1.0" encoding="utf-8"?>
<a:theme xmlns:a="http://schemas.openxmlformats.org/drawingml/2006/main" name="PropManage">
  <a:themeElements>
    <a:clrScheme name="PropManage">
      <a:dk1>
        <a:sysClr val="windowText" lastClr="000000"/>
      </a:dk1>
      <a:lt1>
        <a:sysClr val="window" lastClr="FFFFFF"/>
      </a:lt1>
      <a:dk2>
        <a:srgbClr val="003857"/>
      </a:dk2>
      <a:lt2>
        <a:srgbClr val="F1F4F7"/>
      </a:lt2>
      <a:accent1>
        <a:srgbClr val="003857"/>
      </a:accent1>
      <a:accent2>
        <a:srgbClr val="1B4F72"/>
      </a:accent2>
      <a:accent3>
        <a:srgbClr val="FEA520"/>
      </a:accent3>
      <a:accent4>
        <a:srgbClr val="5A6570"/>
      </a:accent4>
      <a:accent5>
        <a:srgbClr val="C8D8E4"/>
      </a:accent5>
      <a:accent6>
        <a:srgbClr val="2C6E49"/>
      </a:accent6>
      <a:hlink>
        <a:srgbClr val="1B4F72"/>
      </a:hlink>
      <a:folHlink>
        <a:srgbClr val="5A6570"/>
      </a:folHlink>
    </a:clrScheme>
    <a:fontScheme name="PropManage">
      <a:majorFont>
        <a:latin typeface="Calibri"/>
        <a:ea typeface=""/>
        <a:cs typeface=""/>
      </a:majorFont>
      <a:minorFont>
        <a:latin typeface="Calibri"/>
        <a:ea typeface=""/>
        <a:cs typeface=""/>
      </a:minorFont>
    </a:fontScheme>
    <a:fmtScheme name="PropManage">
      <a:fillStyleLst>
        <a:solidFill>
          <a:schemeClr val="phClr"/>
        </a:solidFill>
        <a:solidFill>
          <a:schemeClr val="phClr"/>
        </a:solidFill>
        <a:solidFill>
          <a:schemeClr val="phClr"/>
        </a:solidFill>
      </a:fillStyleLst>
      <a:lnStyleLst>
        <a:ln w="6350" cap="flat" cmpd="sng" algn="ctr">
          <a:solidFill>
            <a:schemeClr val="phClr"/>
          </a:solidFill>
          <a:prstDash val="solid"/>
        </a:ln>
        <a:ln w="6350" cap="flat" cmpd="sng" algn="ctr">
          <a:solidFill>
            <a:schemeClr val="phClr"/>
          </a:solidFill>
          <a:prstDash val="solid"/>
        </a:ln>
        <a:ln w="63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11</Slides>
  <Company/>
</Properties>
</file>

<file path=docProps/core.xml><?xml version="1.0" encoding="utf-8"?>
<cp:coreProperties xmlns:cp="http://schemas.openxmlformats.org/package/2006/metadata/core-properties" xmlns:dc="http://purl.org/dc/elements/1.1/" xmlns:dcterms="http://purl.org/dc/terms/" xmlns:xsi="http://www.w3.org/2001/XMLSchema-instance">
  <dc:title>Software Requirements Specification — PropManage BW</dc:title>
  <dc:creator>Georgy Moni</dc:creator>
  <cp:lastModifiedBy>Georgy Moni</cp:lastModifiedBy>
</cp:coreProperties>
</file>